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797675" cy="9926638"/>
  <p:embeddedFontLst>
    <p:embeddedFont>
      <p:font typeface="Bookman Old Style" panose="02050604050505020204" pitchFamily="18" charset="0"/>
      <p:regular r:id="rId18"/>
      <p:bold r:id="rId19"/>
      <p:italic r:id="rId20"/>
      <p:boldItalic r:id="rId21"/>
    </p:embeddedFont>
    <p:embeddedFont>
      <p:font typeface="Gill Sans"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i9tcvozuPVCYbW7iyi5puWtPRlQ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B019E2-0785-4549-86D5-94CDAC33BE23}" v="5" dt="2025-12-08T15:44:58.046"/>
  </p1510:revLst>
</p1510:revInfo>
</file>

<file path=ppt/tableStyles.xml><?xml version="1.0" encoding="utf-8"?>
<a:tblStyleLst xmlns:a="http://schemas.openxmlformats.org/drawingml/2006/main" def="{F8640A9C-2418-471B-9791-FC1B311E01E8}">
  <a:tblStyle styleId="{F8640A9C-2418-471B-9791-FC1B311E01E8}"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a:tcStyle>
        <a:tcBdr/>
        <a:fill>
          <a:solidFill>
            <a:srgbClr val="D4D6E0"/>
          </a:solidFill>
        </a:fill>
      </a:tcStyle>
    </a:band1H>
    <a:band2H>
      <a:tcTxStyle/>
      <a:tcStyle>
        <a:tcBdr/>
      </a:tcStyle>
    </a:band2H>
    <a:band1V>
      <a:tcTxStyle/>
      <a:tcStyle>
        <a:tcBdr/>
        <a:fill>
          <a:solidFill>
            <a:srgbClr val="D4D6E0"/>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 Varma" userId="377a502e366f1f23" providerId="LiveId" clId="{65B90C58-1D46-4488-90C2-1DFFE8CF3BB5}"/>
    <pc:docChg chg="undo custSel modSld">
      <pc:chgData name="Dhanus Varma" userId="377a502e366f1f23" providerId="LiveId" clId="{65B90C58-1D46-4488-90C2-1DFFE8CF3BB5}" dt="2025-12-08T15:57:51.454" v="310" actId="14100"/>
      <pc:docMkLst>
        <pc:docMk/>
      </pc:docMkLst>
      <pc:sldChg chg="delSp modSp mod">
        <pc:chgData name="Dhanus Varma" userId="377a502e366f1f23" providerId="LiveId" clId="{65B90C58-1D46-4488-90C2-1DFFE8CF3BB5}" dt="2025-12-08T15:42:51.402" v="287" actId="20577"/>
        <pc:sldMkLst>
          <pc:docMk/>
          <pc:sldMk cId="0" sldId="256"/>
        </pc:sldMkLst>
        <pc:spChg chg="mod">
          <ac:chgData name="Dhanus Varma" userId="377a502e366f1f23" providerId="LiveId" clId="{65B90C58-1D46-4488-90C2-1DFFE8CF3BB5}" dt="2025-12-08T15:42:51.402" v="287" actId="20577"/>
          <ac:spMkLst>
            <pc:docMk/>
            <pc:sldMk cId="0" sldId="256"/>
            <ac:spMk id="110" creationId="{00000000-0000-0000-0000-000000000000}"/>
          </ac:spMkLst>
        </pc:spChg>
        <pc:spChg chg="del mod">
          <ac:chgData name="Dhanus Varma" userId="377a502e366f1f23" providerId="LiveId" clId="{65B90C58-1D46-4488-90C2-1DFFE8CF3BB5}" dt="2025-12-08T15:34:58.192" v="96"/>
          <ac:spMkLst>
            <pc:docMk/>
            <pc:sldMk cId="0" sldId="256"/>
            <ac:spMk id="112" creationId="{00000000-0000-0000-0000-000000000000}"/>
          </ac:spMkLst>
        </pc:spChg>
      </pc:sldChg>
      <pc:sldChg chg="delSp modSp mod">
        <pc:chgData name="Dhanus Varma" userId="377a502e366f1f23" providerId="LiveId" clId="{65B90C58-1D46-4488-90C2-1DFFE8CF3BB5}" dt="2025-12-08T15:43:55.150" v="294" actId="21"/>
        <pc:sldMkLst>
          <pc:docMk/>
          <pc:sldMk cId="0" sldId="257"/>
        </pc:sldMkLst>
        <pc:spChg chg="del mod">
          <ac:chgData name="Dhanus Varma" userId="377a502e366f1f23" providerId="LiveId" clId="{65B90C58-1D46-4488-90C2-1DFFE8CF3BB5}" dt="2025-12-08T15:43:55.150" v="294" actId="21"/>
          <ac:spMkLst>
            <pc:docMk/>
            <pc:sldMk cId="0" sldId="257"/>
            <ac:spMk id="118" creationId="{00000000-0000-0000-0000-000000000000}"/>
          </ac:spMkLst>
        </pc:spChg>
      </pc:sldChg>
      <pc:sldChg chg="delSp modSp mod">
        <pc:chgData name="Dhanus Varma" userId="377a502e366f1f23" providerId="LiveId" clId="{65B90C58-1D46-4488-90C2-1DFFE8CF3BB5}" dt="2025-12-08T15:44:00.960" v="295" actId="21"/>
        <pc:sldMkLst>
          <pc:docMk/>
          <pc:sldMk cId="0" sldId="258"/>
        </pc:sldMkLst>
        <pc:spChg chg="del mod">
          <ac:chgData name="Dhanus Varma" userId="377a502e366f1f23" providerId="LiveId" clId="{65B90C58-1D46-4488-90C2-1DFFE8CF3BB5}" dt="2025-12-08T15:44:00.960" v="295" actId="21"/>
          <ac:spMkLst>
            <pc:docMk/>
            <pc:sldMk cId="0" sldId="258"/>
            <ac:spMk id="127" creationId="{00000000-0000-0000-0000-000000000000}"/>
          </ac:spMkLst>
        </pc:spChg>
      </pc:sldChg>
      <pc:sldChg chg="delSp modSp mod">
        <pc:chgData name="Dhanus Varma" userId="377a502e366f1f23" providerId="LiveId" clId="{65B90C58-1D46-4488-90C2-1DFFE8CF3BB5}" dt="2025-12-08T15:44:04.268" v="296" actId="21"/>
        <pc:sldMkLst>
          <pc:docMk/>
          <pc:sldMk cId="0" sldId="259"/>
        </pc:sldMkLst>
        <pc:spChg chg="del mod">
          <ac:chgData name="Dhanus Varma" userId="377a502e366f1f23" providerId="LiveId" clId="{65B90C58-1D46-4488-90C2-1DFFE8CF3BB5}" dt="2025-12-08T15:44:04.268" v="296" actId="21"/>
          <ac:spMkLst>
            <pc:docMk/>
            <pc:sldMk cId="0" sldId="259"/>
            <ac:spMk id="136" creationId="{00000000-0000-0000-0000-000000000000}"/>
          </ac:spMkLst>
        </pc:spChg>
      </pc:sldChg>
      <pc:sldChg chg="delSp modSp mod">
        <pc:chgData name="Dhanus Varma" userId="377a502e366f1f23" providerId="LiveId" clId="{65B90C58-1D46-4488-90C2-1DFFE8CF3BB5}" dt="2025-12-08T15:44:08.026" v="297" actId="21"/>
        <pc:sldMkLst>
          <pc:docMk/>
          <pc:sldMk cId="0" sldId="260"/>
        </pc:sldMkLst>
        <pc:spChg chg="del mod">
          <ac:chgData name="Dhanus Varma" userId="377a502e366f1f23" providerId="LiveId" clId="{65B90C58-1D46-4488-90C2-1DFFE8CF3BB5}" dt="2025-12-08T15:44:08.026" v="297" actId="21"/>
          <ac:spMkLst>
            <pc:docMk/>
            <pc:sldMk cId="0" sldId="260"/>
            <ac:spMk id="146" creationId="{00000000-0000-0000-0000-000000000000}"/>
          </ac:spMkLst>
        </pc:spChg>
      </pc:sldChg>
      <pc:sldChg chg="delSp modSp mod">
        <pc:chgData name="Dhanus Varma" userId="377a502e366f1f23" providerId="LiveId" clId="{65B90C58-1D46-4488-90C2-1DFFE8CF3BB5}" dt="2025-12-08T15:44:13.164" v="298" actId="21"/>
        <pc:sldMkLst>
          <pc:docMk/>
          <pc:sldMk cId="0" sldId="261"/>
        </pc:sldMkLst>
        <pc:spChg chg="del mod">
          <ac:chgData name="Dhanus Varma" userId="377a502e366f1f23" providerId="LiveId" clId="{65B90C58-1D46-4488-90C2-1DFFE8CF3BB5}" dt="2025-12-08T15:44:13.164" v="298" actId="21"/>
          <ac:spMkLst>
            <pc:docMk/>
            <pc:sldMk cId="0" sldId="261"/>
            <ac:spMk id="154" creationId="{00000000-0000-0000-0000-000000000000}"/>
          </ac:spMkLst>
        </pc:spChg>
      </pc:sldChg>
      <pc:sldChg chg="delSp modSp mod">
        <pc:chgData name="Dhanus Varma" userId="377a502e366f1f23" providerId="LiveId" clId="{65B90C58-1D46-4488-90C2-1DFFE8CF3BB5}" dt="2025-12-08T15:57:51.454" v="310" actId="14100"/>
        <pc:sldMkLst>
          <pc:docMk/>
          <pc:sldMk cId="0" sldId="262"/>
        </pc:sldMkLst>
        <pc:spChg chg="mod">
          <ac:chgData name="Dhanus Varma" userId="377a502e366f1f23" providerId="LiveId" clId="{65B90C58-1D46-4488-90C2-1DFFE8CF3BB5}" dt="2025-12-08T15:57:40.759" v="308" actId="27636"/>
          <ac:spMkLst>
            <pc:docMk/>
            <pc:sldMk cId="0" sldId="262"/>
            <ac:spMk id="163" creationId="{00000000-0000-0000-0000-000000000000}"/>
          </ac:spMkLst>
        </pc:spChg>
        <pc:spChg chg="del mod">
          <ac:chgData name="Dhanus Varma" userId="377a502e366f1f23" providerId="LiveId" clId="{65B90C58-1D46-4488-90C2-1DFFE8CF3BB5}" dt="2025-12-08T15:44:20.593" v="299" actId="21"/>
          <ac:spMkLst>
            <pc:docMk/>
            <pc:sldMk cId="0" sldId="262"/>
            <ac:spMk id="164" creationId="{00000000-0000-0000-0000-000000000000}"/>
          </ac:spMkLst>
        </pc:spChg>
        <pc:spChg chg="mod">
          <ac:chgData name="Dhanus Varma" userId="377a502e366f1f23" providerId="LiveId" clId="{65B90C58-1D46-4488-90C2-1DFFE8CF3BB5}" dt="2025-12-08T15:57:51.454" v="310" actId="14100"/>
          <ac:spMkLst>
            <pc:docMk/>
            <pc:sldMk cId="0" sldId="262"/>
            <ac:spMk id="166" creationId="{00000000-0000-0000-0000-000000000000}"/>
          </ac:spMkLst>
        </pc:spChg>
      </pc:sldChg>
      <pc:sldChg chg="delSp modSp mod">
        <pc:chgData name="Dhanus Varma" userId="377a502e366f1f23" providerId="LiveId" clId="{65B90C58-1D46-4488-90C2-1DFFE8CF3BB5}" dt="2025-12-08T15:44:25.003" v="300" actId="21"/>
        <pc:sldMkLst>
          <pc:docMk/>
          <pc:sldMk cId="0" sldId="263"/>
        </pc:sldMkLst>
        <pc:spChg chg="del mod">
          <ac:chgData name="Dhanus Varma" userId="377a502e366f1f23" providerId="LiveId" clId="{65B90C58-1D46-4488-90C2-1DFFE8CF3BB5}" dt="2025-12-08T15:44:25.003" v="300" actId="21"/>
          <ac:spMkLst>
            <pc:docMk/>
            <pc:sldMk cId="0" sldId="263"/>
            <ac:spMk id="172" creationId="{00000000-0000-0000-0000-000000000000}"/>
          </ac:spMkLst>
        </pc:spChg>
      </pc:sldChg>
      <pc:sldChg chg="modSp mod">
        <pc:chgData name="Dhanus Varma" userId="377a502e366f1f23" providerId="LiveId" clId="{65B90C58-1D46-4488-90C2-1DFFE8CF3BB5}" dt="2025-12-08T15:36:21.331" v="109" actId="14100"/>
        <pc:sldMkLst>
          <pc:docMk/>
          <pc:sldMk cId="0" sldId="264"/>
        </pc:sldMkLst>
        <pc:spChg chg="mod">
          <ac:chgData name="Dhanus Varma" userId="377a502e366f1f23" providerId="LiveId" clId="{65B90C58-1D46-4488-90C2-1DFFE8CF3BB5}" dt="2025-12-08T15:36:21.331" v="109" actId="14100"/>
          <ac:spMkLst>
            <pc:docMk/>
            <pc:sldMk cId="0" sldId="264"/>
            <ac:spMk id="187" creationId="{00000000-0000-0000-0000-000000000000}"/>
          </ac:spMkLst>
        </pc:spChg>
      </pc:sldChg>
      <pc:sldChg chg="delSp modSp mod">
        <pc:chgData name="Dhanus Varma" userId="377a502e366f1f23" providerId="LiveId" clId="{65B90C58-1D46-4488-90C2-1DFFE8CF3BB5}" dt="2025-12-08T15:43:44.606" v="293" actId="21"/>
        <pc:sldMkLst>
          <pc:docMk/>
          <pc:sldMk cId="0" sldId="265"/>
        </pc:sldMkLst>
        <pc:spChg chg="del mod">
          <ac:chgData name="Dhanus Varma" userId="377a502e366f1f23" providerId="LiveId" clId="{65B90C58-1D46-4488-90C2-1DFFE8CF3BB5}" dt="2025-12-08T15:43:44.606" v="293" actId="21"/>
          <ac:spMkLst>
            <pc:docMk/>
            <pc:sldMk cId="0" sldId="265"/>
            <ac:spMk id="195" creationId="{00000000-0000-0000-0000-000000000000}"/>
          </ac:spMkLst>
        </pc:spChg>
      </pc:sldChg>
      <pc:sldChg chg="delSp modSp mod">
        <pc:chgData name="Dhanus Varma" userId="377a502e366f1f23" providerId="LiveId" clId="{65B90C58-1D46-4488-90C2-1DFFE8CF3BB5}" dt="2025-12-08T15:44:36.437" v="301" actId="21"/>
        <pc:sldMkLst>
          <pc:docMk/>
          <pc:sldMk cId="0" sldId="266"/>
        </pc:sldMkLst>
        <pc:spChg chg="del mod">
          <ac:chgData name="Dhanus Varma" userId="377a502e366f1f23" providerId="LiveId" clId="{65B90C58-1D46-4488-90C2-1DFFE8CF3BB5}" dt="2025-12-08T15:44:36.437" v="301" actId="21"/>
          <ac:spMkLst>
            <pc:docMk/>
            <pc:sldMk cId="0" sldId="266"/>
            <ac:spMk id="203" creationId="{00000000-0000-0000-0000-000000000000}"/>
          </ac:spMkLst>
        </pc:spChg>
      </pc:sldChg>
      <pc:sldChg chg="delSp modSp mod">
        <pc:chgData name="Dhanus Varma" userId="377a502e366f1f23" providerId="LiveId" clId="{65B90C58-1D46-4488-90C2-1DFFE8CF3BB5}" dt="2025-12-08T15:44:40.971" v="302" actId="21"/>
        <pc:sldMkLst>
          <pc:docMk/>
          <pc:sldMk cId="0" sldId="267"/>
        </pc:sldMkLst>
        <pc:spChg chg="del mod">
          <ac:chgData name="Dhanus Varma" userId="377a502e366f1f23" providerId="LiveId" clId="{65B90C58-1D46-4488-90C2-1DFFE8CF3BB5}" dt="2025-12-08T15:44:40.971" v="302" actId="21"/>
          <ac:spMkLst>
            <pc:docMk/>
            <pc:sldMk cId="0" sldId="267"/>
            <ac:spMk id="211" creationId="{00000000-0000-0000-0000-000000000000}"/>
          </ac:spMkLst>
        </pc:spChg>
      </pc:sldChg>
      <pc:sldChg chg="delSp modSp mod">
        <pc:chgData name="Dhanus Varma" userId="377a502e366f1f23" providerId="LiveId" clId="{65B90C58-1D46-4488-90C2-1DFFE8CF3BB5}" dt="2025-12-08T15:44:45.953" v="303" actId="21"/>
        <pc:sldMkLst>
          <pc:docMk/>
          <pc:sldMk cId="0" sldId="268"/>
        </pc:sldMkLst>
        <pc:spChg chg="del mod">
          <ac:chgData name="Dhanus Varma" userId="377a502e366f1f23" providerId="LiveId" clId="{65B90C58-1D46-4488-90C2-1DFFE8CF3BB5}" dt="2025-12-08T15:44:45.953" v="303" actId="21"/>
          <ac:spMkLst>
            <pc:docMk/>
            <pc:sldMk cId="0" sldId="268"/>
            <ac:spMk id="219" creationId="{00000000-0000-0000-0000-000000000000}"/>
          </ac:spMkLst>
        </pc:spChg>
      </pc:sldChg>
      <pc:sldChg chg="modSp mod">
        <pc:chgData name="Dhanus Varma" userId="377a502e366f1f23" providerId="LiveId" clId="{65B90C58-1D46-4488-90C2-1DFFE8CF3BB5}" dt="2025-12-08T15:37:31.846" v="116" actId="20577"/>
        <pc:sldMkLst>
          <pc:docMk/>
          <pc:sldMk cId="0" sldId="269"/>
        </pc:sldMkLst>
        <pc:spChg chg="mod">
          <ac:chgData name="Dhanus Varma" userId="377a502e366f1f23" providerId="LiveId" clId="{65B90C58-1D46-4488-90C2-1DFFE8CF3BB5}" dt="2025-12-08T15:37:31.846" v="116" actId="20577"/>
          <ac:spMkLst>
            <pc:docMk/>
            <pc:sldMk cId="0" sldId="269"/>
            <ac:spMk id="228" creationId="{00000000-0000-0000-0000-000000000000}"/>
          </ac:spMkLst>
        </pc:spChg>
      </pc:sldChg>
      <pc:sldChg chg="addSp delSp modSp mod">
        <pc:chgData name="Dhanus Varma" userId="377a502e366f1f23" providerId="LiveId" clId="{65B90C58-1D46-4488-90C2-1DFFE8CF3BB5}" dt="2025-12-08T15:45:05.383" v="306" actId="21"/>
        <pc:sldMkLst>
          <pc:docMk/>
          <pc:sldMk cId="0" sldId="270"/>
        </pc:sldMkLst>
        <pc:spChg chg="add del mod">
          <ac:chgData name="Dhanus Varma" userId="377a502e366f1f23" providerId="LiveId" clId="{65B90C58-1D46-4488-90C2-1DFFE8CF3BB5}" dt="2025-12-08T15:45:05.383" v="306" actId="21"/>
          <ac:spMkLst>
            <pc:docMk/>
            <pc:sldMk cId="0" sldId="270"/>
            <ac:spMk id="2" creationId="{00000000-0000-0000-0000-000000000000}"/>
          </ac:spMkLst>
        </pc:spChg>
        <pc:spChg chg="del mod">
          <ac:chgData name="Dhanus Varma" userId="377a502e366f1f23" providerId="LiveId" clId="{65B90C58-1D46-4488-90C2-1DFFE8CF3BB5}" dt="2025-12-08T15:44:52.915" v="304" actId="21"/>
          <ac:spMkLst>
            <pc:docMk/>
            <pc:sldMk cId="0" sldId="270"/>
            <ac:spMk id="2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15" name="Google Shape;115;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24" name="Google Shape;124;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p>
            <a:pPr marL="0" lvl="0" indent="0" algn="l" rtl="0">
              <a:spcBef>
                <a:spcPts val="0"/>
              </a:spcBef>
              <a:spcAft>
                <a:spcPts val="0"/>
              </a:spcAft>
              <a:buNone/>
            </a:pPr>
            <a:endParaRPr/>
          </a:p>
        </p:txBody>
      </p:sp>
      <p:sp>
        <p:nvSpPr>
          <p:cNvPr id="133" name="Google Shape;133;p4:notes"/>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p>
            <a:pPr marL="0" lvl="0" indent="0" algn="l" rtl="0">
              <a:spcBef>
                <a:spcPts val="0"/>
              </a:spcBef>
              <a:spcAft>
                <a:spcPts val="0"/>
              </a:spcAft>
              <a:buNone/>
            </a:pPr>
            <a:endParaRPr/>
          </a:p>
        </p:txBody>
      </p:sp>
      <p:sp>
        <p:nvSpPr>
          <p:cNvPr id="143" name="Google Shape;143;p5:notes"/>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51" name="Google Shape;151;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p>
            <a:pPr marL="0" lvl="0" indent="0" algn="l" rtl="0">
              <a:spcBef>
                <a:spcPts val="0"/>
              </a:spcBef>
              <a:spcAft>
                <a:spcPts val="0"/>
              </a:spcAft>
              <a:buNone/>
            </a:pPr>
            <a:endParaRPr/>
          </a:p>
        </p:txBody>
      </p:sp>
      <p:sp>
        <p:nvSpPr>
          <p:cNvPr id="161" name="Google Shape;161;p7:notes"/>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8: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69" name="Google Shape;169;p8: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9: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p>
            <a:pPr marL="0" lvl="0" indent="0" algn="l" rtl="0">
              <a:spcBef>
                <a:spcPts val="0"/>
              </a:spcBef>
              <a:spcAft>
                <a:spcPts val="0"/>
              </a:spcAft>
              <a:buNone/>
            </a:pPr>
            <a:endParaRPr/>
          </a:p>
        </p:txBody>
      </p:sp>
      <p:sp>
        <p:nvSpPr>
          <p:cNvPr id="184" name="Google Shape;184;p9:notes"/>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0: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p>
            <a:pPr marL="0" lvl="0" indent="0" algn="l" rtl="0">
              <a:spcBef>
                <a:spcPts val="0"/>
              </a:spcBef>
              <a:spcAft>
                <a:spcPts val="0"/>
              </a:spcAft>
              <a:buNone/>
            </a:pPr>
            <a:endParaRPr/>
          </a:p>
        </p:txBody>
      </p:sp>
      <p:sp>
        <p:nvSpPr>
          <p:cNvPr id="192" name="Google Shape;192;p10:notes"/>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00" name="Google Shape;200;p1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2: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08" name="Google Shape;208;p1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17" name="Google Shape;217;p1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25" name="Google Shape;225;p1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5: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34" name="Google Shape;234;p1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7"/>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7"/>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24" name="Google Shape;24;p17"/>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8"/>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1"/>
        <p:cNvGrpSpPr/>
        <p:nvPr/>
      </p:nvGrpSpPr>
      <p:grpSpPr>
        <a:xfrm>
          <a:off x="0" y="0"/>
          <a:ext cx="0" cy="0"/>
          <a:chOff x="0" y="0"/>
          <a:chExt cx="0" cy="0"/>
        </a:xfrm>
      </p:grpSpPr>
      <p:sp>
        <p:nvSpPr>
          <p:cNvPr id="32" name="Google Shape;32;p19"/>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4" name="Google Shape;34;p19"/>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5" name="Google Shape;35;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8" name="Google Shape;38;p19"/>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9" name="Google Shape;39;p19"/>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20"/>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0"/>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5" name="Google Shape;45;p20"/>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6"/>
        <p:cNvGrpSpPr/>
        <p:nvPr/>
      </p:nvGrpSpPr>
      <p:grpSpPr>
        <a:xfrm>
          <a:off x="0" y="0"/>
          <a:ext cx="0" cy="0"/>
          <a:chOff x="0" y="0"/>
          <a:chExt cx="0" cy="0"/>
        </a:xfrm>
      </p:grpSpPr>
      <p:sp>
        <p:nvSpPr>
          <p:cNvPr id="47" name="Google Shape;47;p21"/>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1"/>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49" name="Google Shape;49;p21"/>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1"/>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1"/>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2" name="Google Shape;52;p21"/>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3" name="Google Shape;53;p21"/>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4" name="Google Shape;54;p21"/>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5" name="Google Shape;55;p21"/>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6"/>
        <p:cNvGrpSpPr/>
        <p:nvPr/>
      </p:nvGrpSpPr>
      <p:grpSpPr>
        <a:xfrm>
          <a:off x="0" y="0"/>
          <a:ext cx="0" cy="0"/>
          <a:chOff x="0" y="0"/>
          <a:chExt cx="0" cy="0"/>
        </a:xfrm>
      </p:grpSpPr>
      <p:sp>
        <p:nvSpPr>
          <p:cNvPr id="57" name="Google Shape;57;p22"/>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2"/>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chemeClr val="lt1"/>
                </a:solidFill>
              </a:defRPr>
            </a:lvl1pPr>
            <a:lvl2pPr marL="914400" lvl="1" indent="-228600" algn="l">
              <a:spcBef>
                <a:spcPts val="500"/>
              </a:spcBef>
              <a:spcAft>
                <a:spcPts val="0"/>
              </a:spcAft>
              <a:buSzPts val="1368"/>
              <a:buNone/>
              <a:defRPr sz="1800">
                <a:solidFill>
                  <a:schemeClr val="lt1"/>
                </a:solidFill>
              </a:defRPr>
            </a:lvl2pPr>
            <a:lvl3pPr marL="1371600" lvl="2" indent="-228600" algn="l">
              <a:spcBef>
                <a:spcPts val="500"/>
              </a:spcBef>
              <a:spcAft>
                <a:spcPts val="0"/>
              </a:spcAft>
              <a:buSzPts val="1216"/>
              <a:buNone/>
              <a:defRPr sz="1600">
                <a:solidFill>
                  <a:schemeClr val="lt1"/>
                </a:solidFill>
              </a:defRPr>
            </a:lvl3pPr>
            <a:lvl4pPr marL="1828800" lvl="3" indent="-228600" algn="l">
              <a:spcBef>
                <a:spcPts val="400"/>
              </a:spcBef>
              <a:spcAft>
                <a:spcPts val="0"/>
              </a:spcAft>
              <a:buSzPts val="980"/>
              <a:buNone/>
              <a:defRPr sz="1400">
                <a:solidFill>
                  <a:schemeClr val="lt1"/>
                </a:solidFill>
              </a:defRPr>
            </a:lvl4pPr>
            <a:lvl5pPr marL="2286000" lvl="4" indent="-228600" algn="l">
              <a:spcBef>
                <a:spcPts val="300"/>
              </a:spcBef>
              <a:spcAft>
                <a:spcPts val="0"/>
              </a:spcAft>
              <a:buSzPts val="980"/>
              <a:buNone/>
              <a:defRPr sz="1400">
                <a:solidFill>
                  <a:schemeClr val="lt1"/>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9" name="Google Shape;59;p22"/>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2"/>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22"/>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3" name="Google Shape;63;p22"/>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23"/>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23"/>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4"/>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4"/>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2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4"/>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4"/>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4"/>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24"/>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5"/>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lt1"/>
              </a:buClr>
              <a:buSzPts val="2000"/>
              <a:buFont typeface="Bookman Old Style"/>
              <a:buNone/>
              <a:defRPr sz="2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5"/>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5"/>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2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5"/>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25"/>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6"/>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26"/>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7"/>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7"/>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2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7"/>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7"/>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27"/>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6"/>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6"/>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6"/>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6"/>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6"/>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2800"/>
              <a:buFont typeface="Times New Roman"/>
              <a:buNone/>
            </a:pPr>
            <a:r>
              <a:rPr lang="en-US" sz="2800" b="1">
                <a:solidFill>
                  <a:schemeClr val="dk1"/>
                </a:solidFill>
                <a:latin typeface="Times New Roman"/>
                <a:ea typeface="Times New Roman"/>
                <a:cs typeface="Times New Roman"/>
                <a:sym typeface="Times New Roman"/>
              </a:rPr>
              <a:t>EGB1201 – JAVA PROGRAMMING</a:t>
            </a:r>
            <a:br>
              <a:rPr lang="en-US" sz="2800" b="1">
                <a:solidFill>
                  <a:schemeClr val="dk1"/>
                </a:solidFill>
                <a:latin typeface="Times New Roman"/>
                <a:ea typeface="Times New Roman"/>
                <a:cs typeface="Times New Roman"/>
                <a:sym typeface="Times New Roman"/>
              </a:rPr>
            </a:br>
            <a:r>
              <a:rPr lang="en-US" sz="2800" b="1">
                <a:solidFill>
                  <a:schemeClr val="dk1"/>
                </a:solidFill>
                <a:latin typeface="Times New Roman"/>
                <a:ea typeface="Times New Roman"/>
                <a:cs typeface="Times New Roman"/>
                <a:sym typeface="Times New Roman"/>
              </a:rPr>
              <a:t>END SEM PROJECT REVIEW</a:t>
            </a:r>
            <a:endParaRPr/>
          </a:p>
        </p:txBody>
      </p:sp>
      <p:sp>
        <p:nvSpPr>
          <p:cNvPr id="110" name="Google Shape;110;p1"/>
          <p:cNvSpPr txBox="1"/>
          <p:nvPr/>
        </p:nvSpPr>
        <p:spPr>
          <a:xfrm>
            <a:off x="755725" y="1200150"/>
            <a:ext cx="7772400" cy="3505200"/>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Department of  Electronics and Communication Engineering</a:t>
            </a:r>
            <a:endParaRPr dirty="0"/>
          </a:p>
          <a:p>
            <a:pPr marL="0" marR="0" lvl="0" indent="0" algn="ctr"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Academic Year: 2025 – 2026 (Odd Semester)</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Register Number	: 927624BEC035</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Nam</a:t>
            </a:r>
            <a:r>
              <a:rPr lang="en-US" sz="2500" b="1" dirty="0">
                <a:solidFill>
                  <a:schemeClr val="dk1"/>
                </a:solidFill>
                <a:latin typeface="Times New Roman"/>
                <a:ea typeface="Times New Roman"/>
                <a:cs typeface="Times New Roman"/>
                <a:sym typeface="Times New Roman"/>
              </a:rPr>
              <a:t>e</a:t>
            </a:r>
            <a:r>
              <a:rPr lang="en-US" sz="2500" b="1" i="0" u="none" strike="noStrike" cap="none" dirty="0">
                <a:solidFill>
                  <a:schemeClr val="dk1"/>
                </a:solidFill>
                <a:latin typeface="Times New Roman"/>
                <a:ea typeface="Times New Roman"/>
                <a:cs typeface="Times New Roman"/>
                <a:sym typeface="Times New Roman"/>
              </a:rPr>
              <a:t>			: DHANUS VARMA  R C</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Year			: II</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Semester		: III</a:t>
            </a:r>
            <a:endParaRPr dirty="0"/>
          </a:p>
          <a:p>
            <a:pPr lvl="0"/>
            <a:r>
              <a:rPr lang="en-US" sz="2500" b="1" i="0" u="none" strike="noStrike" cap="none" dirty="0">
                <a:solidFill>
                  <a:schemeClr val="dk1"/>
                </a:solidFill>
                <a:latin typeface="Times New Roman"/>
                <a:ea typeface="Times New Roman"/>
                <a:cs typeface="Times New Roman"/>
                <a:sym typeface="Times New Roman"/>
              </a:rPr>
              <a:t>Section</a:t>
            </a:r>
            <a:r>
              <a:rPr lang="en-US" sz="2500" b="1" dirty="0">
                <a:solidFill>
                  <a:schemeClr val="dk1"/>
                </a:solidFill>
                <a:latin typeface="Times New Roman"/>
                <a:ea typeface="Times New Roman"/>
                <a:cs typeface="Times New Roman"/>
                <a:sym typeface="Times New Roman"/>
              </a:rPr>
              <a:t>                      : A</a:t>
            </a:r>
          </a:p>
          <a:p>
            <a:r>
              <a:rPr lang="en-US" sz="2500" b="1" dirty="0">
                <a:solidFill>
                  <a:schemeClr val="dk1"/>
                </a:solidFill>
                <a:latin typeface="Times New Roman"/>
                <a:ea typeface="Times New Roman"/>
                <a:cs typeface="Times New Roman"/>
                <a:sym typeface="Times New Roman"/>
              </a:rPr>
              <a:t>Date                           : 16-12-2025</a:t>
            </a:r>
            <a:endParaRPr lang="en-US" sz="2800" dirty="0"/>
          </a:p>
        </p:txBody>
      </p:sp>
      <p:sp>
        <p:nvSpPr>
          <p:cNvPr id="111" name="Google Shape;111;p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Title of the Project</a:t>
            </a:r>
            <a:endParaRPr sz="4000" b="1">
              <a:solidFill>
                <a:schemeClr val="dk1"/>
              </a:solidFill>
              <a:latin typeface="Times New Roman"/>
              <a:ea typeface="Times New Roman"/>
              <a:cs typeface="Times New Roman"/>
              <a:sym typeface="Times New Roman"/>
            </a:endParaRPr>
          </a:p>
        </p:txBody>
      </p:sp>
      <p:sp>
        <p:nvSpPr>
          <p:cNvPr id="119" name="Google Shape;119;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120" name="Google Shape;120;p2"/>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None/>
            </a:pPr>
            <a:endParaRPr sz="2500" b="1" i="0" u="none" strike="noStrike" cap="none">
              <a:solidFill>
                <a:srgbClr val="414141"/>
              </a:solidFill>
              <a:latin typeface="Arial"/>
              <a:ea typeface="Arial"/>
              <a:cs typeface="Arial"/>
              <a:sym typeface="Arial"/>
            </a:endParaRPr>
          </a:p>
        </p:txBody>
      </p:sp>
      <p:sp>
        <p:nvSpPr>
          <p:cNvPr id="121" name="Google Shape;121;p2"/>
          <p:cNvSpPr txBox="1">
            <a:spLocks noGrp="1"/>
          </p:cNvSpPr>
          <p:nvPr>
            <p:ph type="body" idx="1"/>
          </p:nvPr>
        </p:nvSpPr>
        <p:spPr>
          <a:xfrm>
            <a:off x="642910" y="1571618"/>
            <a:ext cx="8043890" cy="1500198"/>
          </a:xfrm>
          <a:prstGeom prst="rect">
            <a:avLst/>
          </a:prstGeom>
          <a:noFill/>
          <a:ln>
            <a:noFill/>
          </a:ln>
        </p:spPr>
        <p:txBody>
          <a:bodyPr spcFirstLastPara="1" wrap="square" lIns="91425" tIns="45700" rIns="91425" bIns="45700" anchor="t" anchorCtr="0">
            <a:normAutofit/>
          </a:bodyPr>
          <a:lstStyle/>
          <a:p>
            <a:pPr marL="274320" lvl="0" indent="-148844" algn="l" rtl="0">
              <a:spcBef>
                <a:spcPts val="0"/>
              </a:spcBef>
              <a:spcAft>
                <a:spcPts val="0"/>
              </a:spcAft>
              <a:buSzPts val="1976"/>
              <a:buNone/>
            </a:pPr>
            <a:endParaRPr/>
          </a:p>
          <a:p>
            <a:pPr marL="0" lvl="0" indent="0" algn="l" rtl="0">
              <a:spcBef>
                <a:spcPts val="600"/>
              </a:spcBef>
              <a:spcAft>
                <a:spcPts val="0"/>
              </a:spcAft>
              <a:buSzPts val="1976"/>
              <a:buNone/>
            </a:pPr>
            <a:r>
              <a:rPr lang="en-US"/>
              <a:t>          </a:t>
            </a:r>
            <a:r>
              <a:rPr lang="en-US" sz="3600" b="1">
                <a:latin typeface="Times New Roman"/>
                <a:ea typeface="Times New Roman"/>
                <a:cs typeface="Times New Roman"/>
                <a:sym typeface="Times New Roman"/>
              </a:rPr>
              <a:t>ONLINE   AUCTION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Abstract</a:t>
            </a:r>
            <a:r>
              <a:rPr lang="en-US">
                <a:solidFill>
                  <a:schemeClr val="dk1"/>
                </a:solidFill>
                <a:latin typeface="Times New Roman"/>
                <a:ea typeface="Times New Roman"/>
                <a:cs typeface="Times New Roman"/>
                <a:sym typeface="Times New Roman"/>
              </a:rPr>
              <a:t> </a:t>
            </a:r>
            <a:endParaRPr sz="4000">
              <a:solidFill>
                <a:schemeClr val="dk1"/>
              </a:solidFill>
              <a:latin typeface="Times New Roman"/>
              <a:ea typeface="Times New Roman"/>
              <a:cs typeface="Times New Roman"/>
              <a:sym typeface="Times New Roman"/>
            </a:endParaRPr>
          </a:p>
        </p:txBody>
      </p:sp>
      <p:sp>
        <p:nvSpPr>
          <p:cNvPr id="128" name="Google Shape;128;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a:t>
            </a:fld>
            <a:endParaRPr/>
          </a:p>
          <a:p>
            <a:pPr marL="0" lvl="0" indent="0" algn="l" rtl="0">
              <a:spcBef>
                <a:spcPts val="0"/>
              </a:spcBef>
              <a:spcAft>
                <a:spcPts val="0"/>
              </a:spcAft>
              <a:buNone/>
            </a:pPr>
            <a:endParaRPr/>
          </a:p>
        </p:txBody>
      </p:sp>
      <p:sp>
        <p:nvSpPr>
          <p:cNvPr id="129" name="Google Shape;129;p3"/>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520"/>
              <a:buNone/>
            </a:pPr>
            <a:endParaRPr sz="2000" dirty="0">
              <a:latin typeface="Times New Roman"/>
              <a:ea typeface="Times New Roman"/>
              <a:cs typeface="Times New Roman"/>
              <a:sym typeface="Times New Roman"/>
            </a:endParaRPr>
          </a:p>
          <a:p>
            <a:pPr marL="0" lvl="0" indent="0" algn="just" rtl="0">
              <a:spcBef>
                <a:spcPts val="600"/>
              </a:spcBef>
              <a:spcAft>
                <a:spcPts val="0"/>
              </a:spcAft>
              <a:buSzPts val="1520"/>
              <a:buNone/>
            </a:pPr>
            <a:r>
              <a:rPr lang="en-US" sz="2000" dirty="0">
                <a:latin typeface="Times New Roman"/>
                <a:ea typeface="Times New Roman"/>
                <a:cs typeface="Times New Roman"/>
                <a:sym typeface="Times New Roman"/>
              </a:rPr>
              <a:t>The Online Auction System is a Java-based console application that allows sellers to add items with a starting price and buyers to place bids. It maintains the highest bid and bidder for each item, ensuring fair competition. The system demonstrates object-oriented programming concepts such as classes, objects, and dynamic storage using Array List. It provides a simple model of real-world online auctions and can be extended with GUI, database, and authentication features.</a:t>
            </a:r>
            <a:endParaRPr dirty="0"/>
          </a:p>
          <a:p>
            <a:pPr marL="274320" lvl="0" indent="-177800" algn="l" rtl="0">
              <a:spcBef>
                <a:spcPts val="600"/>
              </a:spcBef>
              <a:spcAft>
                <a:spcPts val="0"/>
              </a:spcAft>
              <a:buSzPts val="1520"/>
              <a:buNone/>
            </a:pP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title"/>
          </p:nvPr>
        </p:nvSpPr>
        <p:spPr>
          <a:xfrm>
            <a:off x="685800" y="171450"/>
            <a:ext cx="8001000" cy="4953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Abstract with CO/PO Mapping</a:t>
            </a:r>
            <a:endParaRPr sz="4000" b="1">
              <a:solidFill>
                <a:schemeClr val="dk1"/>
              </a:solidFill>
              <a:latin typeface="Times New Roman"/>
              <a:ea typeface="Times New Roman"/>
              <a:cs typeface="Times New Roman"/>
              <a:sym typeface="Times New Roman"/>
            </a:endParaRPr>
          </a:p>
        </p:txBody>
      </p:sp>
      <p:sp>
        <p:nvSpPr>
          <p:cNvPr id="137" name="Google Shape;137;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a:t>
            </a:fld>
            <a:endParaRPr/>
          </a:p>
        </p:txBody>
      </p:sp>
      <p:sp>
        <p:nvSpPr>
          <p:cNvPr id="138" name="Google Shape;138;p4"/>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None/>
            </a:pPr>
            <a:endParaRPr sz="2500" b="1" i="0" u="none" strike="noStrike" cap="none">
              <a:solidFill>
                <a:srgbClr val="414141"/>
              </a:solidFill>
              <a:latin typeface="Arial"/>
              <a:ea typeface="Arial"/>
              <a:cs typeface="Arial"/>
              <a:sym typeface="Arial"/>
            </a:endParaRPr>
          </a:p>
        </p:txBody>
      </p:sp>
      <p:graphicFrame>
        <p:nvGraphicFramePr>
          <p:cNvPr id="139" name="Google Shape;139;p4"/>
          <p:cNvGraphicFramePr/>
          <p:nvPr/>
        </p:nvGraphicFramePr>
        <p:xfrm>
          <a:off x="533400" y="1123950"/>
          <a:ext cx="8305825" cy="3541400"/>
        </p:xfrm>
        <a:graphic>
          <a:graphicData uri="http://schemas.openxmlformats.org/drawingml/2006/table">
            <a:tbl>
              <a:tblPr firstRow="1" bandRow="1">
                <a:noFill/>
                <a:tableStyleId>{F8640A9C-2418-471B-9791-FC1B311E01E8}</a:tableStyleId>
              </a:tblPr>
              <a:tblGrid>
                <a:gridCol w="5821825">
                  <a:extLst>
                    <a:ext uri="{9D8B030D-6E8A-4147-A177-3AD203B41FA5}">
                      <a16:colId xmlns:a16="http://schemas.microsoft.com/office/drawing/2014/main" val="20000"/>
                    </a:ext>
                  </a:extLst>
                </a:gridCol>
                <a:gridCol w="853875">
                  <a:extLst>
                    <a:ext uri="{9D8B030D-6E8A-4147-A177-3AD203B41FA5}">
                      <a16:colId xmlns:a16="http://schemas.microsoft.com/office/drawing/2014/main" val="20001"/>
                    </a:ext>
                  </a:extLst>
                </a:gridCol>
                <a:gridCol w="931500">
                  <a:extLst>
                    <a:ext uri="{9D8B030D-6E8A-4147-A177-3AD203B41FA5}">
                      <a16:colId xmlns:a16="http://schemas.microsoft.com/office/drawing/2014/main" val="20002"/>
                    </a:ext>
                  </a:extLst>
                </a:gridCol>
                <a:gridCol w="698625">
                  <a:extLst>
                    <a:ext uri="{9D8B030D-6E8A-4147-A177-3AD203B41FA5}">
                      <a16:colId xmlns:a16="http://schemas.microsoft.com/office/drawing/2014/main" val="20003"/>
                    </a:ext>
                  </a:extLst>
                </a:gridCol>
              </a:tblGrid>
              <a:tr h="386625">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Abstract</a:t>
                      </a:r>
                      <a:endParaRPr/>
                    </a:p>
                  </a:txBody>
                  <a:tcPr marL="91450" marR="91450" marT="45725" marB="45725">
                    <a:solidFill>
                      <a:schemeClr val="lt2"/>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CO</a:t>
                      </a:r>
                      <a:endParaRPr/>
                    </a:p>
                  </a:txBody>
                  <a:tcPr marL="91450" marR="91450" marT="45725" marB="45725">
                    <a:solidFill>
                      <a:schemeClr val="lt2"/>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POs</a:t>
                      </a:r>
                      <a:endParaRPr/>
                    </a:p>
                  </a:txBody>
                  <a:tcPr marL="91450" marR="91450" marT="45725" marB="45725">
                    <a:solidFill>
                      <a:schemeClr val="lt2"/>
                    </a:solidFill>
                  </a:tcPr>
                </a:tc>
                <a:tc>
                  <a:txBody>
                    <a:bodyPr/>
                    <a:lstStyle/>
                    <a:p>
                      <a:pPr marL="0" marR="0" lvl="0" indent="0" algn="ctr" rtl="0">
                        <a:spcBef>
                          <a:spcPts val="0"/>
                        </a:spcBef>
                        <a:spcAft>
                          <a:spcPts val="0"/>
                        </a:spcAft>
                        <a:buNone/>
                      </a:pPr>
                      <a:r>
                        <a:rPr lang="en-US" sz="1800" u="none" strike="noStrike" cap="none">
                          <a:solidFill>
                            <a:schemeClr val="dk1"/>
                          </a:solidFill>
                          <a:latin typeface="Times New Roman"/>
                          <a:ea typeface="Times New Roman"/>
                          <a:cs typeface="Times New Roman"/>
                          <a:sym typeface="Times New Roman"/>
                        </a:rPr>
                        <a:t>PSO</a:t>
                      </a:r>
                      <a:endParaRPr/>
                    </a:p>
                  </a:txBody>
                  <a:tcPr marL="91450" marR="91450" marT="45725" marB="45725">
                    <a:solidFill>
                      <a:schemeClr val="lt2"/>
                    </a:solidFill>
                  </a:tcPr>
                </a:tc>
                <a:extLst>
                  <a:ext uri="{0D108BD9-81ED-4DB2-BD59-A6C34878D82A}">
                    <a16:rowId xmlns:a16="http://schemas.microsoft.com/office/drawing/2014/main" val="10000"/>
                  </a:ext>
                </a:extLst>
              </a:tr>
              <a:tr h="3154775">
                <a:tc>
                  <a:txBody>
                    <a:bodyPr/>
                    <a:lstStyle/>
                    <a:p>
                      <a:pPr marL="0" marR="0" lvl="0" indent="0" algn="just"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The Online Auction System is a Java-based console application that allows sellers to add items with a starting price and buyers to place bids. It maintains the highest bid and bidder for each item, ensuring fair competition. The system demonstrates object-oriented programming concepts such as classes, objects, and dynamic storage using Array List. It provides a simple model of real-world online auctions and can be extended with GUI, database, and authentication features.</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txBody>
                  <a:tcPr marL="91450" marR="91450" marT="45725" marB="45725">
                    <a:solidFill>
                      <a:schemeClr val="lt2"/>
                    </a:solidFill>
                  </a:tcPr>
                </a:tc>
                <a:tc>
                  <a:txBody>
                    <a:bodyPr/>
                    <a:lstStyle/>
                    <a:p>
                      <a:pPr marL="0" marR="0" lvl="0" indent="0" algn="l" rtl="0">
                        <a:spcBef>
                          <a:spcPts val="0"/>
                        </a:spcBef>
                        <a:spcAft>
                          <a:spcPts val="0"/>
                        </a:spcAft>
                        <a:buNone/>
                      </a:pPr>
                      <a:r>
                        <a:rPr lang="en-US" sz="1800"/>
                        <a:t>CO1,CO2</a:t>
                      </a:r>
                      <a:endParaRPr/>
                    </a:p>
                    <a:p>
                      <a:pPr marL="0" marR="0" lvl="0" indent="0" algn="l" rtl="0">
                        <a:spcBef>
                          <a:spcPts val="0"/>
                        </a:spcBef>
                        <a:spcAft>
                          <a:spcPts val="0"/>
                        </a:spcAft>
                        <a:buNone/>
                      </a:pPr>
                      <a:r>
                        <a:rPr lang="en-US" sz="1800"/>
                        <a:t>CO3 CO4</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CO5</a:t>
                      </a:r>
                      <a:endParaRPr sz="1800">
                        <a:solidFill>
                          <a:schemeClr val="dk1"/>
                        </a:solidFill>
                        <a:latin typeface="Gill Sans"/>
                        <a:ea typeface="Gill Sans"/>
                        <a:cs typeface="Gill Sans"/>
                        <a:sym typeface="Gill Sans"/>
                      </a:endParaRPr>
                    </a:p>
                  </a:txBody>
                  <a:tcPr marL="91450" marR="91450" marT="45725" marB="45725">
                    <a:solidFill>
                      <a:schemeClr val="lt2"/>
                    </a:solidFill>
                  </a:tcPr>
                </a:tc>
                <a:tc>
                  <a:txBody>
                    <a:bodyPr/>
                    <a:lstStyle/>
                    <a:p>
                      <a:pPr marL="0" marR="0" lvl="0" indent="0" algn="l" rtl="0">
                        <a:spcBef>
                          <a:spcPts val="0"/>
                        </a:spcBef>
                        <a:spcAft>
                          <a:spcPts val="0"/>
                        </a:spcAft>
                        <a:buNone/>
                      </a:pPr>
                      <a:r>
                        <a:rPr lang="en-US" sz="1800"/>
                        <a:t>PO1, PO2, PO3, PO4, PO5,</a:t>
                      </a:r>
                      <a:endParaRPr sz="1800"/>
                    </a:p>
                    <a:p>
                      <a:pPr marL="0" marR="0" lvl="0" indent="0" algn="l" rtl="0">
                        <a:spcBef>
                          <a:spcPts val="0"/>
                        </a:spcBef>
                        <a:spcAft>
                          <a:spcPts val="0"/>
                        </a:spcAft>
                        <a:buNone/>
                      </a:pPr>
                      <a:r>
                        <a:rPr lang="en-US" sz="1800"/>
                        <a:t>PO6,PO7,PO8,PO9, PO10,</a:t>
                      </a:r>
                      <a:endParaRPr sz="1800"/>
                    </a:p>
                    <a:p>
                      <a:pPr marL="0" marR="0" lvl="0" indent="0" algn="l" rtl="0">
                        <a:spcBef>
                          <a:spcPts val="0"/>
                        </a:spcBef>
                        <a:spcAft>
                          <a:spcPts val="0"/>
                        </a:spcAft>
                        <a:buNone/>
                      </a:pPr>
                      <a:r>
                        <a:rPr lang="en-US" sz="1800"/>
                        <a:t>PO11,</a:t>
                      </a:r>
                      <a:endParaRPr/>
                    </a:p>
                    <a:p>
                      <a:pPr marL="0" marR="0" lvl="0" indent="0" algn="l" rtl="0">
                        <a:spcBef>
                          <a:spcPts val="0"/>
                        </a:spcBef>
                        <a:spcAft>
                          <a:spcPts val="0"/>
                        </a:spcAft>
                        <a:buNone/>
                      </a:pPr>
                      <a:r>
                        <a:rPr lang="en-US" sz="1800"/>
                        <a:t>PO12</a:t>
                      </a:r>
                      <a:endParaRPr sz="1800">
                        <a:solidFill>
                          <a:schemeClr val="dk1"/>
                        </a:solidFill>
                        <a:latin typeface="Times New Roman"/>
                        <a:ea typeface="Times New Roman"/>
                        <a:cs typeface="Times New Roman"/>
                        <a:sym typeface="Times New Roman"/>
                      </a:endParaRPr>
                    </a:p>
                  </a:txBody>
                  <a:tcPr marL="91450" marR="91450" marT="45725" marB="45725">
                    <a:solidFill>
                      <a:schemeClr val="lt2"/>
                    </a:solidFill>
                  </a:tcPr>
                </a:tc>
                <a:tc>
                  <a:txBody>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PS01</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PS02</a:t>
                      </a:r>
                      <a:endParaRPr/>
                    </a:p>
                  </a:txBody>
                  <a:tcPr marL="91450" marR="91450" marT="45725" marB="45725">
                    <a:solidFill>
                      <a:schemeClr val="lt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txBox="1">
            <a:spLocks noGrp="1"/>
          </p:cNvSpPr>
          <p:nvPr>
            <p:ph type="title"/>
          </p:nvPr>
        </p:nvSpPr>
        <p:spPr>
          <a:xfrm>
            <a:off x="457200" y="285750"/>
            <a:ext cx="8229600" cy="4572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Introduction</a:t>
            </a:r>
            <a:endParaRPr sz="4000" b="1">
              <a:solidFill>
                <a:schemeClr val="dk1"/>
              </a:solidFill>
              <a:latin typeface="Times New Roman"/>
              <a:ea typeface="Times New Roman"/>
              <a:cs typeface="Times New Roman"/>
              <a:sym typeface="Times New Roman"/>
            </a:endParaRPr>
          </a:p>
        </p:txBody>
      </p:sp>
      <p:sp>
        <p:nvSpPr>
          <p:cNvPr id="147" name="Google Shape;147;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sp>
        <p:nvSpPr>
          <p:cNvPr id="148" name="Google Shape;148;p5"/>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Autofit/>
          </a:bodyPr>
          <a:lstStyle/>
          <a:p>
            <a:pPr marL="274320" lvl="0" indent="-177800" algn="just" rtl="0">
              <a:spcBef>
                <a:spcPts val="0"/>
              </a:spcBef>
              <a:spcAft>
                <a:spcPts val="0"/>
              </a:spcAft>
              <a:buSzPts val="1520"/>
              <a:buFont typeface="Noto Sans Symbols"/>
              <a:buNone/>
            </a:pPr>
            <a:endParaRPr sz="2000">
              <a:latin typeface="Times New Roman"/>
              <a:ea typeface="Times New Roman"/>
              <a:cs typeface="Times New Roman"/>
              <a:sym typeface="Times New Roman"/>
            </a:endParaRPr>
          </a:p>
          <a:p>
            <a:pPr marL="0" lvl="0" indent="0" algn="just" rtl="0">
              <a:spcBef>
                <a:spcPts val="600"/>
              </a:spcBef>
              <a:spcAft>
                <a:spcPts val="0"/>
              </a:spcAft>
              <a:buSzPts val="1520"/>
              <a:buNone/>
            </a:pPr>
            <a:r>
              <a:rPr lang="en-US" sz="2000">
                <a:latin typeface="Times New Roman"/>
                <a:ea typeface="Times New Roman"/>
                <a:cs typeface="Times New Roman"/>
                <a:sym typeface="Times New Roman"/>
              </a:rPr>
              <a:t>The Online Auction System is a simple Java application that simulates the process of online bidding. In this system, sellers can list items with a starting price, and buyers can view available items and place bids. The program automatically tracks the highest bid and bidder, ensuring fair competition. This project demonstrates Java concepts like classes, objects, encapsulation, and Array List for dynamic storage. It provides a basic model of real-world e-auction platforms and serves as a foundation for future enhancements such as GUI, authentication, and database integration.</a:t>
            </a:r>
            <a:endParaRPr/>
          </a:p>
          <a:p>
            <a:pPr marL="274320" lvl="0" indent="-197104" algn="just" rtl="0">
              <a:spcBef>
                <a:spcPts val="600"/>
              </a:spcBef>
              <a:spcAft>
                <a:spcPts val="0"/>
              </a:spcAft>
              <a:buSzPts val="1216"/>
              <a:buFont typeface="Noto Sans Symbols"/>
              <a:buNone/>
            </a:pP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6"/>
          <p:cNvSpPr txBox="1">
            <a:spLocks noGrp="1"/>
          </p:cNvSpPr>
          <p:nvPr>
            <p:ph type="title"/>
          </p:nvPr>
        </p:nvSpPr>
        <p:spPr>
          <a:xfrm>
            <a:off x="1691680" y="-285770"/>
            <a:ext cx="7272808" cy="913304"/>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   </a:t>
            </a:r>
            <a:endParaRPr b="1">
              <a:solidFill>
                <a:schemeClr val="dk1"/>
              </a:solidFill>
              <a:latin typeface="Times New Roman"/>
              <a:ea typeface="Times New Roman"/>
              <a:cs typeface="Times New Roman"/>
              <a:sym typeface="Times New Roman"/>
            </a:endParaRPr>
          </a:p>
        </p:txBody>
      </p:sp>
      <p:sp>
        <p:nvSpPr>
          <p:cNvPr id="155" name="Google Shape;155;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dirty="0"/>
          </a:p>
        </p:txBody>
      </p:sp>
      <p:graphicFrame>
        <p:nvGraphicFramePr>
          <p:cNvPr id="156" name="Google Shape;156;p6"/>
          <p:cNvGraphicFramePr/>
          <p:nvPr/>
        </p:nvGraphicFramePr>
        <p:xfrm>
          <a:off x="353272" y="1015221"/>
          <a:ext cx="8447800" cy="3636625"/>
        </p:xfrm>
        <a:graphic>
          <a:graphicData uri="http://schemas.openxmlformats.org/drawingml/2006/table">
            <a:tbl>
              <a:tblPr firstRow="1" bandRow="1">
                <a:noFill/>
                <a:tableStyleId>{F8640A9C-2418-471B-9791-FC1B311E01E8}</a:tableStyleId>
              </a:tblPr>
              <a:tblGrid>
                <a:gridCol w="923950">
                  <a:extLst>
                    <a:ext uri="{9D8B030D-6E8A-4147-A177-3AD203B41FA5}">
                      <a16:colId xmlns:a16="http://schemas.microsoft.com/office/drawing/2014/main" val="20000"/>
                    </a:ext>
                  </a:extLst>
                </a:gridCol>
                <a:gridCol w="2199975">
                  <a:extLst>
                    <a:ext uri="{9D8B030D-6E8A-4147-A177-3AD203B41FA5}">
                      <a16:colId xmlns:a16="http://schemas.microsoft.com/office/drawing/2014/main" val="20001"/>
                    </a:ext>
                  </a:extLst>
                </a:gridCol>
                <a:gridCol w="1539975">
                  <a:extLst>
                    <a:ext uri="{9D8B030D-6E8A-4147-A177-3AD203B41FA5}">
                      <a16:colId xmlns:a16="http://schemas.microsoft.com/office/drawing/2014/main" val="20002"/>
                    </a:ext>
                  </a:extLst>
                </a:gridCol>
                <a:gridCol w="1319975">
                  <a:extLst>
                    <a:ext uri="{9D8B030D-6E8A-4147-A177-3AD203B41FA5}">
                      <a16:colId xmlns:a16="http://schemas.microsoft.com/office/drawing/2014/main" val="20003"/>
                    </a:ext>
                  </a:extLst>
                </a:gridCol>
                <a:gridCol w="2463925">
                  <a:extLst>
                    <a:ext uri="{9D8B030D-6E8A-4147-A177-3AD203B41FA5}">
                      <a16:colId xmlns:a16="http://schemas.microsoft.com/office/drawing/2014/main" val="20004"/>
                    </a:ext>
                  </a:extLst>
                </a:gridCol>
              </a:tblGrid>
              <a:tr h="37030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SNO</a:t>
                      </a:r>
                      <a:endParaRPr/>
                    </a:p>
                  </a:txBody>
                  <a:tcPr marL="91450" marR="91450" marT="45725" marB="45725"/>
                </a:tc>
                <a:tc>
                  <a:txBody>
                    <a:bodyPr/>
                    <a:lstStyle/>
                    <a:p>
                      <a:pPr marL="0" marR="0" lvl="0" indent="0" algn="l" rtl="0">
                        <a:spcBef>
                          <a:spcPts val="0"/>
                        </a:spcBef>
                        <a:spcAft>
                          <a:spcPts val="0"/>
                        </a:spcAft>
                        <a:buNone/>
                      </a:pPr>
                      <a:r>
                        <a:rPr lang="en-US" sz="1800" b="1">
                          <a:latin typeface="Times New Roman"/>
                          <a:ea typeface="Times New Roman"/>
                          <a:cs typeface="Times New Roman"/>
                          <a:sym typeface="Times New Roman"/>
                        </a:rPr>
                        <a:t>PAPER  TITLE</a:t>
                      </a:r>
                      <a:endParaRPr sz="1800" b="1">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AUTHOR</a:t>
                      </a:r>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YEAR</a:t>
                      </a:r>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ADVANTAGES</a:t>
                      </a:r>
                      <a:endParaRPr/>
                    </a:p>
                  </a:txBody>
                  <a:tcPr marL="91450" marR="91450" marT="45725" marB="45725"/>
                </a:tc>
                <a:extLst>
                  <a:ext uri="{0D108BD9-81ED-4DB2-BD59-A6C34878D82A}">
                    <a16:rowId xmlns:a16="http://schemas.microsoft.com/office/drawing/2014/main" val="10000"/>
                  </a:ext>
                </a:extLst>
              </a:tr>
              <a:tr h="1330975">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 A Framework for Real time Online Auctions</a:t>
                      </a:r>
                      <a:endParaRPr/>
                    </a:p>
                  </a:txBody>
                  <a:tcPr marL="91450" marR="91450" marT="45725" marB="45725" anchor="ctr"/>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Bernhard Rumpe</a:t>
                      </a:r>
                      <a:endParaRPr sz="1600">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None/>
                      </a:pPr>
                      <a:br>
                        <a:rPr lang="en-US" sz="1600">
                          <a:latin typeface="Times New Roman"/>
                          <a:ea typeface="Times New Roman"/>
                          <a:cs typeface="Times New Roman"/>
                          <a:sym typeface="Times New Roman"/>
                        </a:rPr>
                      </a:br>
                      <a:br>
                        <a:rPr lang="en-US" sz="1600">
                          <a:latin typeface="Times New Roman"/>
                          <a:ea typeface="Times New Roman"/>
                          <a:cs typeface="Times New Roman"/>
                          <a:sym typeface="Times New Roman"/>
                        </a:rPr>
                      </a:br>
                      <a:r>
                        <a:rPr lang="en-US" sz="1600">
                          <a:latin typeface="Times New Roman"/>
                          <a:ea typeface="Times New Roman"/>
                          <a:cs typeface="Times New Roman"/>
                          <a:sym typeface="Times New Roman"/>
                        </a:rPr>
                        <a:t>2014</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Provides a Java-based real-time client–server architecture; ensures consistency in bid handling</a:t>
                      </a:r>
                      <a:endParaRPr/>
                    </a:p>
                  </a:txBody>
                  <a:tcPr marL="91450" marR="91450" marT="45725" marB="45725"/>
                </a:tc>
                <a:extLst>
                  <a:ext uri="{0D108BD9-81ED-4DB2-BD59-A6C34878D82A}">
                    <a16:rowId xmlns:a16="http://schemas.microsoft.com/office/drawing/2014/main" val="10001"/>
                  </a:ext>
                </a:extLst>
              </a:tr>
              <a:tr h="833200">
                <a:tc>
                  <a:txBody>
                    <a:bodyPr/>
                    <a:lstStyle/>
                    <a:p>
                      <a:pPr marL="0" marR="0" lvl="0" indent="0" algn="l" rtl="0">
                        <a:spcBef>
                          <a:spcPts val="0"/>
                        </a:spcBef>
                        <a:spcAft>
                          <a:spcPts val="0"/>
                        </a:spcAft>
                        <a:buNone/>
                      </a:pPr>
                      <a:r>
                        <a:rPr lang="en-US" sz="1800"/>
                        <a:t>       </a:t>
                      </a:r>
                      <a:br>
                        <a:rPr lang="en-US" sz="1800"/>
                      </a:br>
                      <a:r>
                        <a:rPr lang="en-US" sz="1800"/>
                        <a:t>2.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Verification of Combinatorial Vickrey Auctions</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 Caminati, J. Martin, C. Prehofer</a:t>
                      </a:r>
                      <a:endParaRPr sz="16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br>
                        <a:rPr lang="en-US" sz="1600">
                          <a:latin typeface="Times New Roman"/>
                          <a:ea typeface="Times New Roman"/>
                          <a:cs typeface="Times New Roman"/>
                          <a:sym typeface="Times New Roman"/>
                        </a:rPr>
                      </a:br>
                      <a:r>
                        <a:rPr lang="en-US" sz="1600">
                          <a:latin typeface="Times New Roman"/>
                          <a:ea typeface="Times New Roman"/>
                          <a:cs typeface="Times New Roman"/>
                          <a:sym typeface="Times New Roman"/>
                        </a:rPr>
                        <a:t>2013</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Ensures correctness and fairness of auction outcomes .</a:t>
                      </a:r>
                      <a:endParaRPr/>
                    </a:p>
                  </a:txBody>
                  <a:tcPr marL="91450" marR="91450" marT="45725" marB="45725"/>
                </a:tc>
                <a:extLst>
                  <a:ext uri="{0D108BD9-81ED-4DB2-BD59-A6C34878D82A}">
                    <a16:rowId xmlns:a16="http://schemas.microsoft.com/office/drawing/2014/main" val="10002"/>
                  </a:ext>
                </a:extLst>
              </a:tr>
              <a:tr h="1102150">
                <a:tc>
                  <a:txBody>
                    <a:bodyPr/>
                    <a:lstStyle/>
                    <a:p>
                      <a:pPr marL="0" marR="0" lvl="0" indent="0" algn="l" rtl="0">
                        <a:spcBef>
                          <a:spcPts val="0"/>
                        </a:spcBef>
                        <a:spcAft>
                          <a:spcPts val="0"/>
                        </a:spcAft>
                        <a:buNone/>
                      </a:pPr>
                      <a:br>
                        <a:rPr lang="en-US" sz="1800"/>
                      </a:br>
                      <a:br>
                        <a:rPr lang="en-US" sz="1800"/>
                      </a:br>
                      <a:r>
                        <a:rPr lang="en-US" sz="1800"/>
                        <a:t>3.</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Secure Electronic Auction Protocols: A Survey</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Various Authors</a:t>
                      </a:r>
                      <a:endParaRPr/>
                    </a:p>
                  </a:txBody>
                  <a:tcPr marL="91450" marR="91450" marT="45725" marB="45725"/>
                </a:tc>
                <a:tc>
                  <a:txBody>
                    <a:bodyPr/>
                    <a:lstStyle/>
                    <a:p>
                      <a:pPr marL="0" marR="0" lvl="0" indent="0" algn="l" rtl="0">
                        <a:spcBef>
                          <a:spcPts val="0"/>
                        </a:spcBef>
                        <a:spcAft>
                          <a:spcPts val="0"/>
                        </a:spcAft>
                        <a:buNone/>
                      </a:pPr>
                      <a:br>
                        <a:rPr lang="en-US" sz="1600">
                          <a:latin typeface="Times New Roman"/>
                          <a:ea typeface="Times New Roman"/>
                          <a:cs typeface="Times New Roman"/>
                          <a:sym typeface="Times New Roman"/>
                        </a:rPr>
                      </a:br>
                      <a:r>
                        <a:rPr lang="en-US" sz="1600">
                          <a:latin typeface="Times New Roman"/>
                          <a:ea typeface="Times New Roman"/>
                          <a:cs typeface="Times New Roman"/>
                          <a:sym typeface="Times New Roman"/>
                        </a:rPr>
                        <a:t>2022</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Highlights cryptographic techniques to enhance security and trust in online auctions</a:t>
                      </a:r>
                      <a:endParaRPr/>
                    </a:p>
                  </a:txBody>
                  <a:tcPr marL="91450" marR="91450" marT="45725" marB="45725"/>
                </a:tc>
                <a:extLst>
                  <a:ext uri="{0D108BD9-81ED-4DB2-BD59-A6C34878D82A}">
                    <a16:rowId xmlns:a16="http://schemas.microsoft.com/office/drawing/2014/main" val="10003"/>
                  </a:ext>
                </a:extLst>
              </a:tr>
            </a:tbl>
          </a:graphicData>
        </a:graphic>
      </p:graphicFrame>
      <p:sp>
        <p:nvSpPr>
          <p:cNvPr id="157" name="Google Shape;157;p6"/>
          <p:cNvSpPr txBox="1"/>
          <p:nvPr/>
        </p:nvSpPr>
        <p:spPr>
          <a:xfrm>
            <a:off x="353272" y="101917"/>
            <a:ext cx="8333528" cy="641035"/>
          </a:xfrm>
          <a:prstGeom prst="rect">
            <a:avLst/>
          </a:prstGeom>
          <a:solidFill>
            <a:srgbClr val="93B9C3"/>
          </a:solidFill>
          <a:ln>
            <a:noFill/>
          </a:ln>
        </p:spPr>
        <p:txBody>
          <a:bodyPr spcFirstLastPara="1" wrap="square" lIns="91425" tIns="45700" rIns="91425" bIns="45700" anchor="b" anchorCtr="0">
            <a:noAutofit/>
          </a:bodyPr>
          <a:lstStyle/>
          <a:p>
            <a:pPr marL="0" marR="0" lvl="0" indent="0" algn="ctr" rtl="0">
              <a:spcBef>
                <a:spcPts val="0"/>
              </a:spcBef>
              <a:spcAft>
                <a:spcPts val="0"/>
              </a:spcAft>
              <a:buClr>
                <a:schemeClr val="dk1"/>
              </a:buClr>
              <a:buSzPts val="3200"/>
              <a:buFont typeface="Times New Roman"/>
              <a:buNone/>
            </a:pPr>
            <a:r>
              <a:rPr lang="en-US" sz="3200" b="1" i="0" u="none" strike="noStrike" cap="none">
                <a:solidFill>
                  <a:schemeClr val="dk1"/>
                </a:solidFill>
                <a:latin typeface="Times New Roman"/>
                <a:ea typeface="Times New Roman"/>
                <a:cs typeface="Times New Roman"/>
                <a:sym typeface="Times New Roman"/>
              </a:rPr>
              <a:t>Literature Survey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7"/>
          <p:cNvSpPr txBox="1">
            <a:spLocks noGrp="1"/>
          </p:cNvSpPr>
          <p:nvPr>
            <p:ph type="title"/>
          </p:nvPr>
        </p:nvSpPr>
        <p:spPr>
          <a:xfrm>
            <a:off x="356839" y="114300"/>
            <a:ext cx="8329961" cy="577076"/>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Java Programming  - Concepts Used</a:t>
            </a:r>
            <a:endParaRPr sz="4000" b="1" dirty="0">
              <a:solidFill>
                <a:schemeClr val="dk1"/>
              </a:solidFill>
              <a:latin typeface="Times New Roman"/>
              <a:ea typeface="Times New Roman"/>
              <a:cs typeface="Times New Roman"/>
              <a:sym typeface="Times New Roman"/>
            </a:endParaRPr>
          </a:p>
        </p:txBody>
      </p:sp>
      <p:sp>
        <p:nvSpPr>
          <p:cNvPr id="165" name="Google Shape;16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7</a:t>
            </a:fld>
            <a:endParaRPr/>
          </a:p>
        </p:txBody>
      </p:sp>
      <p:sp>
        <p:nvSpPr>
          <p:cNvPr id="166" name="Google Shape;166;p7"/>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fontScale="40000" lnSpcReduction="20000"/>
          </a:bodyPr>
          <a:lstStyle/>
          <a:p>
            <a:pPr marL="0" lvl="0" indent="0" algn="l" rtl="0">
              <a:spcBef>
                <a:spcPts val="0"/>
              </a:spcBef>
              <a:spcAft>
                <a:spcPts val="0"/>
              </a:spcAft>
              <a:buSzPct val="76000"/>
              <a:buNone/>
            </a:pPr>
            <a:r>
              <a:rPr lang="en-US" sz="4500" b="1" dirty="0">
                <a:latin typeface="Times New Roman"/>
                <a:ea typeface="Times New Roman"/>
                <a:cs typeface="Times New Roman"/>
                <a:sym typeface="Times New Roman"/>
              </a:rPr>
              <a:t>Object-Oriented Programming Concepts</a:t>
            </a:r>
            <a:endParaRPr dirty="0"/>
          </a:p>
          <a:p>
            <a:pPr marL="0" lvl="0" indent="0" algn="l" rtl="0">
              <a:spcBef>
                <a:spcPts val="600"/>
              </a:spcBef>
              <a:spcAft>
                <a:spcPts val="0"/>
              </a:spcAft>
              <a:buSzPct val="76000"/>
              <a:buNone/>
            </a:pPr>
            <a:r>
              <a:rPr lang="en-US" sz="4500" dirty="0">
                <a:latin typeface="Times New Roman"/>
                <a:ea typeface="Times New Roman"/>
                <a:cs typeface="Times New Roman"/>
                <a:sym typeface="Times New Roman"/>
              </a:rPr>
              <a:t>Classes and Objects – Used to structure main components like Users, Items, and Bids.</a:t>
            </a:r>
            <a:br>
              <a:rPr lang="en-US" sz="4500" dirty="0">
                <a:latin typeface="Times New Roman"/>
                <a:ea typeface="Times New Roman"/>
                <a:cs typeface="Times New Roman"/>
                <a:sym typeface="Times New Roman"/>
              </a:rPr>
            </a:br>
            <a:r>
              <a:rPr lang="en-US" sz="4500" dirty="0">
                <a:latin typeface="Times New Roman"/>
                <a:ea typeface="Times New Roman"/>
                <a:cs typeface="Times New Roman"/>
                <a:sym typeface="Times New Roman"/>
              </a:rPr>
              <a:t>Methods – Used to perform actions such as placing bids and managing items.</a:t>
            </a:r>
            <a:endParaRPr dirty="0"/>
          </a:p>
          <a:p>
            <a:pPr marL="0" lvl="0" indent="0" algn="l" rtl="0">
              <a:spcBef>
                <a:spcPts val="600"/>
              </a:spcBef>
              <a:spcAft>
                <a:spcPts val="0"/>
              </a:spcAft>
              <a:buSzPct val="76000"/>
              <a:buNone/>
            </a:pPr>
            <a:r>
              <a:rPr lang="en-US" sz="4500" b="1" dirty="0">
                <a:latin typeface="Times New Roman"/>
                <a:ea typeface="Times New Roman"/>
                <a:cs typeface="Times New Roman"/>
                <a:sym typeface="Times New Roman"/>
              </a:rPr>
              <a:t>Dynamic Data Handling</a:t>
            </a:r>
            <a:endParaRPr dirty="0"/>
          </a:p>
          <a:p>
            <a:pPr marL="0" lvl="0" indent="0" algn="l" rtl="0">
              <a:spcBef>
                <a:spcPts val="600"/>
              </a:spcBef>
              <a:spcAft>
                <a:spcPts val="0"/>
              </a:spcAft>
              <a:buSzPct val="76000"/>
              <a:buNone/>
            </a:pPr>
            <a:r>
              <a:rPr lang="en-US" sz="4500" dirty="0">
                <a:latin typeface="Times New Roman"/>
                <a:ea typeface="Times New Roman"/>
                <a:cs typeface="Times New Roman"/>
                <a:sym typeface="Times New Roman"/>
              </a:rPr>
              <a:t>Array List / Collections Concept – Used to store and manage multiple records dynamically.</a:t>
            </a:r>
            <a:endParaRPr dirty="0"/>
          </a:p>
          <a:p>
            <a:pPr marL="0" lvl="0" indent="0" algn="l" rtl="0">
              <a:spcBef>
                <a:spcPts val="600"/>
              </a:spcBef>
              <a:spcAft>
                <a:spcPts val="0"/>
              </a:spcAft>
              <a:buSzPct val="76000"/>
              <a:buNone/>
            </a:pPr>
            <a:r>
              <a:rPr lang="en-US" sz="4500" b="1" dirty="0">
                <a:latin typeface="Times New Roman"/>
                <a:ea typeface="Times New Roman"/>
                <a:cs typeface="Times New Roman"/>
                <a:sym typeface="Times New Roman"/>
              </a:rPr>
              <a:t>Control Statements</a:t>
            </a:r>
            <a:endParaRPr dirty="0"/>
          </a:p>
          <a:p>
            <a:pPr marL="0" lvl="0" indent="0" algn="l" rtl="0">
              <a:spcBef>
                <a:spcPts val="600"/>
              </a:spcBef>
              <a:spcAft>
                <a:spcPts val="0"/>
              </a:spcAft>
              <a:buSzPct val="76000"/>
              <a:buNone/>
            </a:pPr>
            <a:r>
              <a:rPr lang="en-US" sz="4500" dirty="0">
                <a:latin typeface="Times New Roman"/>
                <a:ea typeface="Times New Roman"/>
                <a:cs typeface="Times New Roman"/>
                <a:sym typeface="Times New Roman"/>
              </a:rPr>
              <a:t>If–Else – Used for comparing bids and selecting the highest bidder.</a:t>
            </a:r>
            <a:br>
              <a:rPr lang="en-US" sz="4500" dirty="0">
                <a:latin typeface="Times New Roman"/>
                <a:ea typeface="Times New Roman"/>
                <a:cs typeface="Times New Roman"/>
                <a:sym typeface="Times New Roman"/>
              </a:rPr>
            </a:br>
            <a:r>
              <a:rPr lang="en-US" sz="4500" dirty="0">
                <a:latin typeface="Times New Roman"/>
                <a:ea typeface="Times New Roman"/>
                <a:cs typeface="Times New Roman"/>
                <a:sym typeface="Times New Roman"/>
              </a:rPr>
              <a:t>Loops (for / while</a:t>
            </a:r>
            <a:r>
              <a:rPr lang="en-US" sz="4500" b="1" dirty="0">
                <a:latin typeface="Times New Roman"/>
                <a:ea typeface="Times New Roman"/>
                <a:cs typeface="Times New Roman"/>
                <a:sym typeface="Times New Roman"/>
              </a:rPr>
              <a:t>)</a:t>
            </a:r>
            <a:r>
              <a:rPr lang="en-US" sz="4500" dirty="0">
                <a:latin typeface="Times New Roman"/>
                <a:ea typeface="Times New Roman"/>
                <a:cs typeface="Times New Roman"/>
                <a:sym typeface="Times New Roman"/>
              </a:rPr>
              <a:t> – Used to repeat operations like checking available items.</a:t>
            </a:r>
            <a:endParaRPr dirty="0"/>
          </a:p>
          <a:p>
            <a:pPr marL="0" lvl="0" indent="0" algn="l" rtl="0">
              <a:spcBef>
                <a:spcPts val="600"/>
              </a:spcBef>
              <a:spcAft>
                <a:spcPts val="0"/>
              </a:spcAft>
              <a:buSzPct val="76000"/>
              <a:buNone/>
            </a:pPr>
            <a:r>
              <a:rPr lang="en-US" sz="4500" b="1" dirty="0">
                <a:latin typeface="Times New Roman"/>
                <a:ea typeface="Times New Roman"/>
                <a:cs typeface="Times New Roman"/>
                <a:sym typeface="Times New Roman"/>
              </a:rPr>
              <a:t>Input Handling</a:t>
            </a:r>
            <a:endParaRPr dirty="0"/>
          </a:p>
          <a:p>
            <a:pPr marL="0" lvl="0" indent="0" algn="l" rtl="0">
              <a:spcBef>
                <a:spcPts val="600"/>
              </a:spcBef>
              <a:spcAft>
                <a:spcPts val="0"/>
              </a:spcAft>
              <a:buSzPct val="76000"/>
              <a:buNone/>
            </a:pPr>
            <a:r>
              <a:rPr lang="en-US" sz="4500" dirty="0">
                <a:latin typeface="Times New Roman"/>
                <a:ea typeface="Times New Roman"/>
                <a:cs typeface="Times New Roman"/>
                <a:sym typeface="Times New Roman"/>
              </a:rPr>
              <a:t>Scanner Concept – Used for receiving user input in console-based design.</a:t>
            </a:r>
            <a:endParaRPr dirty="0"/>
          </a:p>
          <a:p>
            <a:pPr marL="0" lvl="0" indent="0" algn="l" rtl="0">
              <a:spcBef>
                <a:spcPts val="600"/>
              </a:spcBef>
              <a:spcAft>
                <a:spcPts val="0"/>
              </a:spcAft>
              <a:buSzPct val="76000"/>
              <a:buNone/>
            </a:pPr>
            <a:r>
              <a:rPr lang="en-US" sz="4500" b="1" dirty="0" err="1">
                <a:latin typeface="Times New Roman"/>
                <a:ea typeface="Times New Roman"/>
                <a:cs typeface="Times New Roman"/>
                <a:sym typeface="Times New Roman"/>
              </a:rPr>
              <a:t>toString</a:t>
            </a:r>
            <a:r>
              <a:rPr lang="en-US" sz="4500" b="1" dirty="0">
                <a:latin typeface="Times New Roman"/>
                <a:ea typeface="Times New Roman"/>
                <a:cs typeface="Times New Roman"/>
                <a:sym typeface="Times New Roman"/>
              </a:rPr>
              <a:t>() Concept</a:t>
            </a:r>
            <a:endParaRPr dirty="0"/>
          </a:p>
          <a:p>
            <a:pPr marL="0" lvl="0" indent="0" algn="l" rtl="0">
              <a:spcBef>
                <a:spcPts val="600"/>
              </a:spcBef>
              <a:spcAft>
                <a:spcPts val="0"/>
              </a:spcAft>
              <a:buSzPct val="76000"/>
              <a:buNone/>
            </a:pPr>
            <a:r>
              <a:rPr lang="en-US" sz="4500" dirty="0">
                <a:latin typeface="Times New Roman"/>
                <a:ea typeface="Times New Roman"/>
                <a:cs typeface="Times New Roman"/>
                <a:sym typeface="Times New Roman"/>
              </a:rPr>
              <a:t>Used for displaying object details clearly.</a:t>
            </a:r>
            <a:endParaRPr dirty="0"/>
          </a:p>
          <a:p>
            <a:pPr marL="274320" lvl="0" indent="-224129" algn="l" rtl="0">
              <a:spcBef>
                <a:spcPts val="600"/>
              </a:spcBef>
              <a:spcAft>
                <a:spcPts val="0"/>
              </a:spcAft>
              <a:buSzPct val="760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8"/>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a:t>
            </a:r>
            <a:endParaRPr sz="4000" b="1">
              <a:solidFill>
                <a:schemeClr val="dk1"/>
              </a:solidFill>
              <a:latin typeface="Times New Roman"/>
              <a:ea typeface="Times New Roman"/>
              <a:cs typeface="Times New Roman"/>
              <a:sym typeface="Times New Roman"/>
            </a:endParaRPr>
          </a:p>
        </p:txBody>
      </p:sp>
      <p:sp>
        <p:nvSpPr>
          <p:cNvPr id="173" name="Google Shape;173;p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sp>
        <p:nvSpPr>
          <p:cNvPr id="174" name="Google Shape;174;p8"/>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None/>
            </a:pPr>
            <a:endParaRPr/>
          </a:p>
          <a:p>
            <a:pPr marL="274320" lvl="0" indent="-148844" algn="l" rtl="0">
              <a:spcBef>
                <a:spcPts val="600"/>
              </a:spcBef>
              <a:spcAft>
                <a:spcPts val="0"/>
              </a:spcAft>
              <a:buSzPts val="1976"/>
              <a:buNone/>
            </a:pPr>
            <a:endParaRPr>
              <a:latin typeface="Times New Roman"/>
              <a:ea typeface="Times New Roman"/>
              <a:cs typeface="Times New Roman"/>
              <a:sym typeface="Times New Roman"/>
            </a:endParaRPr>
          </a:p>
        </p:txBody>
      </p:sp>
      <p:sp>
        <p:nvSpPr>
          <p:cNvPr id="175" name="Google Shape;175;p8" descr="Uploaded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76" name="Google Shape;176;p8" descr="Uploaded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77" name="Google Shape;177;p8" descr="Generated image"/>
          <p:cNvSpPr/>
          <p:nvPr/>
        </p:nvSpPr>
        <p:spPr>
          <a:xfrm>
            <a:off x="1547664" y="-452586"/>
            <a:ext cx="3176736" cy="317673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78" name="Google Shape;178;p8" descr="Generated image"/>
          <p:cNvSpPr/>
          <p:nvPr/>
        </p:nvSpPr>
        <p:spPr>
          <a:xfrm>
            <a:off x="3203848" y="2256465"/>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79" name="Google Shape;179;p8" descr="Generated image"/>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pic>
        <p:nvPicPr>
          <p:cNvPr id="180" name="Google Shape;180;p8"/>
          <p:cNvPicPr preferRelativeResize="0"/>
          <p:nvPr/>
        </p:nvPicPr>
        <p:blipFill rotWithShape="1">
          <a:blip r:embed="rId3">
            <a:alphaModFix/>
          </a:blip>
          <a:srcRect/>
          <a:stretch/>
        </p:blipFill>
        <p:spPr>
          <a:xfrm>
            <a:off x="2339752" y="987575"/>
            <a:ext cx="4362800" cy="34563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9"/>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 - Description</a:t>
            </a:r>
            <a:endParaRPr sz="4000" b="1">
              <a:solidFill>
                <a:schemeClr val="dk1"/>
              </a:solidFill>
              <a:latin typeface="Times New Roman"/>
              <a:ea typeface="Times New Roman"/>
              <a:cs typeface="Times New Roman"/>
              <a:sym typeface="Times New Roman"/>
            </a:endParaRPr>
          </a:p>
        </p:txBody>
      </p:sp>
      <p:sp>
        <p:nvSpPr>
          <p:cNvPr id="187" name="Google Shape;187;p9"/>
          <p:cNvSpPr txBox="1">
            <a:spLocks noGrp="1"/>
          </p:cNvSpPr>
          <p:nvPr>
            <p:ph type="ftr" idx="11"/>
          </p:nvPr>
        </p:nvSpPr>
        <p:spPr>
          <a:xfrm>
            <a:off x="-252536" y="4731990"/>
            <a:ext cx="1100029" cy="27432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dirty="0">
                <a:latin typeface="Times New Roman"/>
                <a:ea typeface="Times New Roman"/>
                <a:cs typeface="Times New Roman"/>
                <a:sym typeface="Times New Roman"/>
              </a:rPr>
              <a:t>9</a:t>
            </a:r>
          </a:p>
        </p:txBody>
      </p:sp>
      <p:sp>
        <p:nvSpPr>
          <p:cNvPr id="188" name="Google Shape;188;p9"/>
          <p:cNvSpPr txBox="1"/>
          <p:nvPr/>
        </p:nvSpPr>
        <p:spPr>
          <a:xfrm>
            <a:off x="457200" y="987575"/>
            <a:ext cx="8229600"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Presentation Layer</a:t>
            </a:r>
            <a:endParaRPr/>
          </a:p>
          <a:p>
            <a:pPr marL="0" marR="0" lvl="0" indent="0" algn="just" rtl="0">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Provides the user interface for registration, login, bidding, and payments using HTML &amp; CSS.</a:t>
            </a:r>
            <a:endParaRPr/>
          </a:p>
          <a:p>
            <a:pPr marL="0" marR="0" lvl="0" indent="0" algn="just"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Controller Layer</a:t>
            </a:r>
            <a:endParaRPr/>
          </a:p>
          <a:p>
            <a:pPr marL="0" marR="0" lvl="0" indent="0" algn="just" rtl="0">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Handles form submissions and button clicks, and controls screen navigation using JavaScript event handlers.</a:t>
            </a:r>
            <a:endParaRPr/>
          </a:p>
          <a:p>
            <a:pPr marL="0" marR="0" lvl="0" indent="0" algn="just"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Business Logic Layer</a:t>
            </a:r>
            <a:endParaRPr/>
          </a:p>
          <a:p>
            <a:pPr marL="0" marR="0" lvl="0" indent="0" algn="just" rtl="0">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Implements core auction operations such as placing bids, validating highest bids, and processing payments.</a:t>
            </a:r>
            <a:endParaRPr/>
          </a:p>
          <a:p>
            <a:pPr marL="0" marR="0" lvl="0" indent="0" algn="just"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Data Layer</a:t>
            </a:r>
            <a:endParaRPr/>
          </a:p>
          <a:p>
            <a:pPr marL="0" marR="0" lvl="0" indent="0" algn="just" rtl="0">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Stores users, items, bids, and payment details using JavaScript arrays and objects.</a:t>
            </a:r>
            <a:endParaRPr/>
          </a:p>
          <a:p>
            <a:pPr marL="0" marR="0" lvl="0" indent="0" algn="just"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Utility Layer</a:t>
            </a:r>
            <a:endParaRPr/>
          </a:p>
          <a:p>
            <a:pPr marL="0" marR="0" lvl="0" indent="0" algn="just" rtl="0">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Contains helper functions such as showing messages and managing screen visibility.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0"/>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List of Modules</a:t>
            </a:r>
            <a:endParaRPr/>
          </a:p>
        </p:txBody>
      </p:sp>
      <p:sp>
        <p:nvSpPr>
          <p:cNvPr id="196" name="Google Shape;196;p1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10</a:t>
            </a:fld>
            <a:endParaRPr/>
          </a:p>
        </p:txBody>
      </p:sp>
      <p:sp>
        <p:nvSpPr>
          <p:cNvPr id="197" name="Google Shape;197;p10"/>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672"/>
              <a:buNone/>
            </a:pPr>
            <a:r>
              <a:rPr lang="en-US" sz="2200">
                <a:latin typeface="Times New Roman"/>
                <a:ea typeface="Times New Roman"/>
                <a:cs typeface="Times New Roman"/>
                <a:sym typeface="Times New Roman"/>
              </a:rPr>
              <a:t>                                          </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1.User Module</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2.Item Module </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3.Auction Module</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4.Bidding Module</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5.Payment Module </a:t>
            </a:r>
            <a:endParaRPr/>
          </a:p>
          <a:p>
            <a:pPr marL="274320" lvl="0" indent="-274320" algn="just" rtl="0">
              <a:spcBef>
                <a:spcPts val="600"/>
              </a:spcBef>
              <a:spcAft>
                <a:spcPts val="0"/>
              </a:spcAft>
              <a:buSzPts val="1672"/>
              <a:buNone/>
            </a:pPr>
            <a:r>
              <a:rPr lang="en-US" sz="2200">
                <a:latin typeface="Times New Roman"/>
                <a:ea typeface="Times New Roman"/>
                <a:cs typeface="Times New Roman"/>
                <a:sym typeface="Times New Roman"/>
              </a:rPr>
              <a:t>                                          6.Admin Module </a:t>
            </a:r>
            <a:endParaRPr/>
          </a:p>
          <a:p>
            <a:pPr marL="274320" lvl="0" indent="-148844" algn="l" rtl="0">
              <a:spcBef>
                <a:spcPts val="600"/>
              </a:spcBef>
              <a:spcAft>
                <a:spcPts val="0"/>
              </a:spcAft>
              <a:buSzPts val="1976"/>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Description of Modules</a:t>
            </a:r>
            <a:endParaRPr b="1">
              <a:solidFill>
                <a:schemeClr val="dk1"/>
              </a:solidFill>
              <a:latin typeface="Times New Roman"/>
              <a:ea typeface="Times New Roman"/>
              <a:cs typeface="Times New Roman"/>
              <a:sym typeface="Times New Roman"/>
            </a:endParaRPr>
          </a:p>
        </p:txBody>
      </p:sp>
      <p:sp>
        <p:nvSpPr>
          <p:cNvPr id="204" name="Google Shape;204;p1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sp>
        <p:nvSpPr>
          <p:cNvPr id="205" name="Google Shape;205;p11"/>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just" rtl="0">
              <a:spcBef>
                <a:spcPts val="0"/>
              </a:spcBef>
              <a:spcAft>
                <a:spcPts val="0"/>
              </a:spcAft>
              <a:buSzPct val="76000"/>
              <a:buNone/>
            </a:pPr>
            <a:r>
              <a:rPr lang="en-US" sz="2000" b="1">
                <a:latin typeface="Times New Roman"/>
                <a:ea typeface="Times New Roman"/>
                <a:cs typeface="Times New Roman"/>
                <a:sym typeface="Times New Roman"/>
              </a:rPr>
              <a:t>User Module</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 Registration, login, profile management (buyers &amp; sellers).</a:t>
            </a:r>
            <a:endParaRPr/>
          </a:p>
          <a:p>
            <a:pPr marL="274320" lvl="0" indent="-274320" algn="just" rtl="0">
              <a:spcBef>
                <a:spcPts val="600"/>
              </a:spcBef>
              <a:spcAft>
                <a:spcPts val="0"/>
              </a:spcAft>
              <a:buSzPct val="76000"/>
              <a:buNone/>
            </a:pPr>
            <a:r>
              <a:rPr lang="en-US" sz="2000" b="1">
                <a:latin typeface="Times New Roman"/>
                <a:ea typeface="Times New Roman"/>
                <a:cs typeface="Times New Roman"/>
                <a:sym typeface="Times New Roman"/>
              </a:rPr>
              <a:t>Item Module</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 Add, update, delete, and view auction items.</a:t>
            </a:r>
            <a:endParaRPr/>
          </a:p>
          <a:p>
            <a:pPr marL="274320" lvl="0" indent="-274320" algn="just" rtl="0">
              <a:spcBef>
                <a:spcPts val="600"/>
              </a:spcBef>
              <a:spcAft>
                <a:spcPts val="0"/>
              </a:spcAft>
              <a:buSzPct val="76000"/>
              <a:buNone/>
            </a:pPr>
            <a:r>
              <a:rPr lang="en-US" sz="2000" b="1">
                <a:latin typeface="Times New Roman"/>
                <a:ea typeface="Times New Roman"/>
                <a:cs typeface="Times New Roman"/>
                <a:sym typeface="Times New Roman"/>
              </a:rPr>
              <a:t>Auction Module</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 Create auctions, set start/end time, auction status.</a:t>
            </a:r>
            <a:endParaRPr/>
          </a:p>
          <a:p>
            <a:pPr marL="274320" lvl="0" indent="-274320" algn="just" rtl="0">
              <a:spcBef>
                <a:spcPts val="600"/>
              </a:spcBef>
              <a:spcAft>
                <a:spcPts val="0"/>
              </a:spcAft>
              <a:buSzPct val="76000"/>
              <a:buNone/>
            </a:pPr>
            <a:r>
              <a:rPr lang="en-US" sz="2000" b="1">
                <a:latin typeface="Times New Roman"/>
                <a:ea typeface="Times New Roman"/>
                <a:cs typeface="Times New Roman"/>
                <a:sym typeface="Times New Roman"/>
              </a:rPr>
              <a:t>Bidding Module </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Place bids, update bids, track highest bidder.</a:t>
            </a:r>
            <a:endParaRPr/>
          </a:p>
          <a:p>
            <a:pPr marL="274320" lvl="0" indent="-274320" algn="just" rtl="0">
              <a:spcBef>
                <a:spcPts val="600"/>
              </a:spcBef>
              <a:spcAft>
                <a:spcPts val="0"/>
              </a:spcAft>
              <a:buSzPct val="76000"/>
              <a:buNone/>
            </a:pPr>
            <a:r>
              <a:rPr lang="en-US" sz="2000" b="1">
                <a:latin typeface="Times New Roman"/>
                <a:ea typeface="Times New Roman"/>
                <a:cs typeface="Times New Roman"/>
                <a:sym typeface="Times New Roman"/>
              </a:rPr>
              <a:t>Payment Module </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Simulated payment process, settlement after auction.</a:t>
            </a:r>
            <a:endParaRPr/>
          </a:p>
          <a:p>
            <a:pPr marL="274320" lvl="0" indent="-274320" algn="just" rtl="0">
              <a:spcBef>
                <a:spcPts val="600"/>
              </a:spcBef>
              <a:spcAft>
                <a:spcPts val="0"/>
              </a:spcAft>
              <a:buSzPct val="76000"/>
              <a:buNone/>
            </a:pPr>
            <a:r>
              <a:rPr lang="en-US" sz="2000" b="1">
                <a:latin typeface="Times New Roman"/>
                <a:ea typeface="Times New Roman"/>
                <a:cs typeface="Times New Roman"/>
                <a:sym typeface="Times New Roman"/>
              </a:rPr>
              <a:t>Admin Module </a:t>
            </a:r>
            <a:endParaRPr/>
          </a:p>
          <a:p>
            <a:pPr marL="274320" lvl="0" indent="-274320" algn="just" rtl="0">
              <a:spcBef>
                <a:spcPts val="600"/>
              </a:spcBef>
              <a:spcAft>
                <a:spcPts val="0"/>
              </a:spcAft>
              <a:buSzPct val="76000"/>
              <a:buNone/>
            </a:pPr>
            <a:r>
              <a:rPr lang="en-US" sz="2000">
                <a:latin typeface="Times New Roman"/>
                <a:ea typeface="Times New Roman"/>
                <a:cs typeface="Times New Roman"/>
                <a:sym typeface="Times New Roman"/>
              </a:rPr>
              <a:t> Manage users, auctions, and overall system monitoring.</a:t>
            </a:r>
            <a:endParaRPr/>
          </a:p>
          <a:p>
            <a:pPr marL="274320" lvl="0" indent="-167665" algn="l" rtl="0">
              <a:spcBef>
                <a:spcPts val="600"/>
              </a:spcBef>
              <a:spcAft>
                <a:spcPts val="0"/>
              </a:spcAft>
              <a:buSzPct val="76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                                 </a:t>
            </a:r>
            <a:endParaRPr b="1">
              <a:solidFill>
                <a:schemeClr val="dk1"/>
              </a:solidFill>
              <a:latin typeface="Times New Roman"/>
              <a:ea typeface="Times New Roman"/>
              <a:cs typeface="Times New Roman"/>
              <a:sym typeface="Times New Roman"/>
            </a:endParaRPr>
          </a:p>
        </p:txBody>
      </p:sp>
      <p:sp>
        <p:nvSpPr>
          <p:cNvPr id="212" name="Google Shape;212;p1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12</a:t>
            </a:fld>
            <a:endParaRPr dirty="0"/>
          </a:p>
        </p:txBody>
      </p:sp>
      <p:sp>
        <p:nvSpPr>
          <p:cNvPr id="213" name="Google Shape;213;p12"/>
          <p:cNvSpPr txBox="1"/>
          <p:nvPr/>
        </p:nvSpPr>
        <p:spPr>
          <a:xfrm>
            <a:off x="395536" y="114300"/>
            <a:ext cx="8291264" cy="628650"/>
          </a:xfrm>
          <a:prstGeom prst="rect">
            <a:avLst/>
          </a:prstGeom>
          <a:solidFill>
            <a:srgbClr val="93B9C3"/>
          </a:solidFill>
          <a:ln>
            <a:noFill/>
          </a:ln>
        </p:spPr>
        <p:txBody>
          <a:bodyPr spcFirstLastPara="1" wrap="square" lIns="91425" tIns="45700" rIns="91425" bIns="45700" anchor="b" anchorCtr="0">
            <a:noAutofit/>
          </a:bodyPr>
          <a:lstStyle/>
          <a:p>
            <a:pPr marL="0" marR="0" lvl="0" indent="0" algn="ctr" rtl="0">
              <a:spcBef>
                <a:spcPts val="0"/>
              </a:spcBef>
              <a:spcAft>
                <a:spcPts val="0"/>
              </a:spcAft>
              <a:buClr>
                <a:schemeClr val="dk1"/>
              </a:buClr>
              <a:buSzPts val="3200"/>
              <a:buFont typeface="Times New Roman"/>
              <a:buNone/>
            </a:pPr>
            <a:r>
              <a:rPr lang="en-US" sz="3200" b="1">
                <a:solidFill>
                  <a:schemeClr val="dk1"/>
                </a:solidFill>
                <a:latin typeface="Times New Roman"/>
                <a:ea typeface="Times New Roman"/>
                <a:cs typeface="Times New Roman"/>
                <a:sym typeface="Times New Roman"/>
              </a:rPr>
              <a:t>Result</a:t>
            </a:r>
            <a:endParaRPr sz="3200" b="1">
              <a:solidFill>
                <a:schemeClr val="dk1"/>
              </a:solidFill>
              <a:latin typeface="Times New Roman"/>
              <a:ea typeface="Times New Roman"/>
              <a:cs typeface="Times New Roman"/>
              <a:sym typeface="Times New Roman"/>
            </a:endParaRPr>
          </a:p>
        </p:txBody>
      </p:sp>
      <p:pic>
        <p:nvPicPr>
          <p:cNvPr id="214" name="Google Shape;214;p12"/>
          <p:cNvPicPr preferRelativeResize="0">
            <a:picLocks noGrp="1"/>
          </p:cNvPicPr>
          <p:nvPr>
            <p:ph type="body" idx="1"/>
          </p:nvPr>
        </p:nvPicPr>
        <p:blipFill rotWithShape="1">
          <a:blip r:embed="rId3">
            <a:alphaModFix/>
          </a:blip>
          <a:srcRect/>
          <a:stretch/>
        </p:blipFill>
        <p:spPr>
          <a:xfrm>
            <a:off x="457200" y="1386938"/>
            <a:ext cx="8229600" cy="27585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20" name="Google Shape;220;p1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13</a:t>
            </a:fld>
            <a:endParaRPr/>
          </a:p>
        </p:txBody>
      </p:sp>
      <p:sp>
        <p:nvSpPr>
          <p:cNvPr id="221" name="Google Shape;221;p13"/>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520"/>
              <a:buNone/>
            </a:pPr>
            <a:endParaRPr sz="2000">
              <a:latin typeface="Times New Roman"/>
              <a:ea typeface="Times New Roman"/>
              <a:cs typeface="Times New Roman"/>
              <a:sym typeface="Times New Roman"/>
            </a:endParaRPr>
          </a:p>
          <a:p>
            <a:pPr marL="0" lvl="0" indent="0" algn="just" rtl="0">
              <a:spcBef>
                <a:spcPts val="600"/>
              </a:spcBef>
              <a:spcAft>
                <a:spcPts val="0"/>
              </a:spcAft>
              <a:buSzPts val="1520"/>
              <a:buNone/>
            </a:pPr>
            <a:r>
              <a:rPr lang="en-US" sz="2000">
                <a:latin typeface="Times New Roman"/>
                <a:ea typeface="Times New Roman"/>
                <a:cs typeface="Times New Roman"/>
                <a:sym typeface="Times New Roman"/>
              </a:rPr>
              <a:t>The Online Auction System successfully showcases the practical application of Java programming concepts such as classes, objects, ArrayList, and user input handling. The system allows sellers to add items and buyers to place bids, while automatically updating the highest bid, making the auction process simple and transparent. This project provides a functional model of an online bidding platform and helps in understanding how real auction systems work. It also creates a strong base for future enhancements such as GUI design, database integration, user authentication, and secure payment features</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sp>
        <p:nvSpPr>
          <p:cNvPr id="222" name="Google Shape;222;p13"/>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Autofit/>
          </a:bodyPr>
          <a:lstStyle/>
          <a:p>
            <a:pPr marL="0" marR="0" lvl="0" indent="0" algn="ctr" rtl="0">
              <a:spcBef>
                <a:spcPts val="0"/>
              </a:spcBef>
              <a:spcAft>
                <a:spcPts val="0"/>
              </a:spcAft>
              <a:buClr>
                <a:schemeClr val="dk1"/>
              </a:buClr>
              <a:buSzPts val="3200"/>
              <a:buFont typeface="Times New Roman"/>
              <a:buNone/>
            </a:pPr>
            <a:r>
              <a:rPr lang="en-US" sz="3200" b="1" i="0" u="none" strike="noStrike" cap="none">
                <a:solidFill>
                  <a:schemeClr val="dk1"/>
                </a:solidFill>
                <a:latin typeface="Times New Roman"/>
                <a:ea typeface="Times New Roman"/>
                <a:cs typeface="Times New Roman"/>
                <a:sym typeface="Times New Roman"/>
              </a:rPr>
              <a:t>CONCLUSION</a:t>
            </a:r>
            <a:endParaRPr sz="3200" b="1"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                            </a:t>
            </a:r>
            <a:endParaRPr b="1">
              <a:solidFill>
                <a:schemeClr val="dk1"/>
              </a:solidFill>
              <a:latin typeface="Times New Roman"/>
              <a:ea typeface="Times New Roman"/>
              <a:cs typeface="Times New Roman"/>
              <a:sym typeface="Times New Roman"/>
            </a:endParaRPr>
          </a:p>
        </p:txBody>
      </p:sp>
      <p:sp>
        <p:nvSpPr>
          <p:cNvPr id="228" name="Google Shape;228;p14"/>
          <p:cNvSpPr txBox="1">
            <a:spLocks noGrp="1"/>
          </p:cNvSpPr>
          <p:nvPr>
            <p:ph type="ftr" idx="11"/>
          </p:nvPr>
        </p:nvSpPr>
        <p:spPr>
          <a:xfrm>
            <a:off x="1547664" y="4767263"/>
            <a:ext cx="4856184" cy="27432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sz="1200" dirty="0">
              <a:latin typeface="Times New Roman"/>
              <a:ea typeface="Times New Roman"/>
              <a:cs typeface="Times New Roman"/>
              <a:sym typeface="Times New Roman"/>
            </a:endParaRPr>
          </a:p>
        </p:txBody>
      </p:sp>
      <p:sp>
        <p:nvSpPr>
          <p:cNvPr id="229" name="Google Shape;229;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14</a:t>
            </a:fld>
            <a:endParaRPr dirty="0"/>
          </a:p>
        </p:txBody>
      </p:sp>
      <p:sp>
        <p:nvSpPr>
          <p:cNvPr id="230" name="Google Shape;230;p14"/>
          <p:cNvSpPr txBox="1">
            <a:spLocks noGrp="1"/>
          </p:cNvSpPr>
          <p:nvPr>
            <p:ph type="body" idx="1"/>
          </p:nvPr>
        </p:nvSpPr>
        <p:spPr>
          <a:xfrm>
            <a:off x="466637" y="1131590"/>
            <a:ext cx="6807120" cy="1785104"/>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chemeClr val="dk1"/>
              </a:buClr>
              <a:buSzPts val="2200"/>
              <a:buNone/>
            </a:pPr>
            <a:r>
              <a:rPr lang="en-US" sz="2200" i="1" u="none" strike="noStrike" cap="none">
                <a:solidFill>
                  <a:schemeClr val="dk1"/>
                </a:solidFill>
                <a:latin typeface="Times New Roman"/>
                <a:ea typeface="Times New Roman"/>
                <a:cs typeface="Times New Roman"/>
                <a:sym typeface="Times New Roman"/>
              </a:rPr>
              <a:t>1.GeeksforGeeks</a:t>
            </a:r>
            <a:r>
              <a:rPr lang="en-US" sz="2200" i="0" u="none" strike="noStrike" cap="none">
                <a:solidFill>
                  <a:schemeClr val="dk1"/>
                </a:solidFill>
                <a:latin typeface="Times New Roman"/>
                <a:ea typeface="Times New Roman"/>
                <a:cs typeface="Times New Roman"/>
                <a:sym typeface="Times New Roman"/>
              </a:rPr>
              <a:t>, “Online Auction System in Java.”</a:t>
            </a:r>
            <a:endParaRPr/>
          </a:p>
          <a:p>
            <a:pPr marL="0" marR="0" lvl="0" indent="0" algn="just" rtl="0">
              <a:lnSpc>
                <a:spcPct val="100000"/>
              </a:lnSpc>
              <a:spcBef>
                <a:spcPts val="0"/>
              </a:spcBef>
              <a:spcAft>
                <a:spcPts val="0"/>
              </a:spcAft>
              <a:buClr>
                <a:schemeClr val="dk1"/>
              </a:buClr>
              <a:buSzPts val="2200"/>
              <a:buNone/>
            </a:pPr>
            <a:endParaRPr sz="220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r>
              <a:rPr lang="en-US" sz="2200" i="1" u="none" strike="noStrike" cap="none">
                <a:solidFill>
                  <a:schemeClr val="dk1"/>
                </a:solidFill>
                <a:latin typeface="Times New Roman"/>
                <a:ea typeface="Times New Roman"/>
                <a:cs typeface="Times New Roman"/>
                <a:sym typeface="Times New Roman"/>
              </a:rPr>
              <a:t>2.JavaTpoint</a:t>
            </a:r>
            <a:r>
              <a:rPr lang="en-US" sz="2200" i="0" u="none" strike="noStrike" cap="none">
                <a:solidFill>
                  <a:schemeClr val="dk1"/>
                </a:solidFill>
                <a:latin typeface="Times New Roman"/>
                <a:ea typeface="Times New Roman"/>
                <a:cs typeface="Times New Roman"/>
                <a:sym typeface="Times New Roman"/>
              </a:rPr>
              <a:t>, “Java Projects: Online Auction System.”</a:t>
            </a:r>
            <a:endParaRPr/>
          </a:p>
          <a:p>
            <a:pPr marL="0" marR="0" lvl="0" indent="0" algn="just" rtl="0">
              <a:lnSpc>
                <a:spcPct val="100000"/>
              </a:lnSpc>
              <a:spcBef>
                <a:spcPts val="0"/>
              </a:spcBef>
              <a:spcAft>
                <a:spcPts val="0"/>
              </a:spcAft>
              <a:buClr>
                <a:schemeClr val="dk1"/>
              </a:buClr>
              <a:buSzPts val="2200"/>
              <a:buNone/>
            </a:pPr>
            <a:endParaRPr sz="220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r>
              <a:rPr lang="en-US" sz="2200" i="1" u="none" strike="noStrike" cap="none">
                <a:solidFill>
                  <a:schemeClr val="dk1"/>
                </a:solidFill>
                <a:latin typeface="Times New Roman"/>
                <a:ea typeface="Times New Roman"/>
                <a:cs typeface="Times New Roman"/>
                <a:sym typeface="Times New Roman"/>
              </a:rPr>
              <a:t>3.TutorialsPoint</a:t>
            </a:r>
            <a:r>
              <a:rPr lang="en-US" sz="2200" i="0" u="none" strike="noStrike" cap="none">
                <a:solidFill>
                  <a:schemeClr val="dk1"/>
                </a:solidFill>
                <a:latin typeface="Times New Roman"/>
                <a:ea typeface="Times New Roman"/>
                <a:cs typeface="Times New Roman"/>
                <a:sym typeface="Times New Roman"/>
              </a:rPr>
              <a:t>, “Object-Oriented Programming in Java.”</a:t>
            </a:r>
            <a:endParaRPr/>
          </a:p>
        </p:txBody>
      </p:sp>
      <p:sp>
        <p:nvSpPr>
          <p:cNvPr id="231" name="Google Shape;231;p14"/>
          <p:cNvSpPr txBox="1"/>
          <p:nvPr/>
        </p:nvSpPr>
        <p:spPr>
          <a:xfrm>
            <a:off x="395536" y="101917"/>
            <a:ext cx="8291264" cy="641033"/>
          </a:xfrm>
          <a:prstGeom prst="rect">
            <a:avLst/>
          </a:prstGeom>
          <a:solidFill>
            <a:srgbClr val="93B9C3"/>
          </a:solidFill>
          <a:ln>
            <a:noFill/>
          </a:ln>
        </p:spPr>
        <p:txBody>
          <a:bodyPr spcFirstLastPara="1" wrap="square" lIns="91425" tIns="45700" rIns="91425" bIns="45700" anchor="b" anchorCtr="0">
            <a:noAutofit/>
          </a:bodyPr>
          <a:lstStyle/>
          <a:p>
            <a:pPr marL="0" marR="0" lvl="0" indent="0" algn="ctr" rtl="0">
              <a:spcBef>
                <a:spcPts val="0"/>
              </a:spcBef>
              <a:spcAft>
                <a:spcPts val="0"/>
              </a:spcAft>
              <a:buClr>
                <a:schemeClr val="dk1"/>
              </a:buClr>
              <a:buSzPts val="3200"/>
              <a:buFont typeface="Times New Roman"/>
              <a:buNone/>
            </a:pPr>
            <a:r>
              <a:rPr lang="en-US" sz="3200" b="1">
                <a:solidFill>
                  <a:schemeClr val="dk1"/>
                </a:solidFill>
                <a:latin typeface="Times New Roman"/>
                <a:ea typeface="Times New Roman"/>
                <a:cs typeface="Times New Roman"/>
                <a:sym typeface="Times New Roman"/>
              </a:rPr>
              <a:t>References</a:t>
            </a:r>
            <a:endParaRPr sz="3200" b="1">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5"/>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dk1"/>
              </a:buClr>
              <a:buSzPct val="100000"/>
              <a:buFont typeface="Times New Roman"/>
              <a:buNone/>
            </a:pPr>
            <a:r>
              <a:rPr lang="en-US" sz="4400" b="1">
                <a:solidFill>
                  <a:schemeClr val="dk1"/>
                </a:solidFill>
                <a:latin typeface="Times New Roman"/>
                <a:ea typeface="Times New Roman"/>
                <a:cs typeface="Times New Roman"/>
                <a:sym typeface="Times New Roman"/>
              </a:rPr>
              <a:t>Thank  You</a:t>
            </a:r>
            <a:endParaRPr sz="4000" b="1">
              <a:solidFill>
                <a:schemeClr val="dk1"/>
              </a:solidFill>
              <a:latin typeface="Times New Roman"/>
              <a:ea typeface="Times New Roman"/>
              <a:cs typeface="Times New Roman"/>
              <a:sym typeface="Times New Roman"/>
            </a:endParaRPr>
          </a:p>
        </p:txBody>
      </p:sp>
      <p:sp>
        <p:nvSpPr>
          <p:cNvPr id="238" name="Google Shape;238;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15</a:t>
            </a:fld>
            <a:endParaRPr/>
          </a:p>
        </p:txBody>
      </p:sp>
      <p:sp>
        <p:nvSpPr>
          <p:cNvPr id="239" name="Google Shape;239;p15"/>
          <p:cNvSpPr txBox="1"/>
          <p:nvPr/>
        </p:nvSpPr>
        <p:spPr>
          <a:xfrm>
            <a:off x="0" y="2099871"/>
            <a:ext cx="9144000" cy="1664258"/>
          </a:xfrm>
          <a:prstGeom prst="rect">
            <a:avLst/>
          </a:prstGeom>
          <a:solidFill>
            <a:srgbClr val="EDF0C8"/>
          </a:solid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lt1"/>
              </a:buClr>
              <a:buSzPts val="3600"/>
              <a:buFont typeface="Bookman Old Style"/>
              <a:buNone/>
            </a:pPr>
            <a:endParaRPr sz="3600" b="0" cap="none">
              <a:solidFill>
                <a:schemeClr val="lt1"/>
              </a:solidFill>
              <a:latin typeface="Bookman Old Style"/>
              <a:ea typeface="Bookman Old Style"/>
              <a:cs typeface="Bookman Old Style"/>
              <a:sym typeface="Bookman Old Style"/>
            </a:endParaRPr>
          </a:p>
          <a:p>
            <a:pPr marL="0" marR="0" lvl="0" indent="0" algn="ctr" rtl="0">
              <a:spcBef>
                <a:spcPts val="0"/>
              </a:spcBef>
              <a:spcAft>
                <a:spcPts val="0"/>
              </a:spcAft>
              <a:buClr>
                <a:schemeClr val="dk1"/>
              </a:buClr>
              <a:buSzPts val="3600"/>
              <a:buFont typeface="Times New Roman"/>
              <a:buNone/>
            </a:pPr>
            <a:r>
              <a:rPr lang="en-US" sz="3600" b="1" cap="none">
                <a:solidFill>
                  <a:schemeClr val="dk1"/>
                </a:solidFill>
                <a:latin typeface="Times New Roman"/>
                <a:ea typeface="Times New Roman"/>
                <a:cs typeface="Times New Roman"/>
                <a:sym typeface="Times New Roman"/>
              </a:rPr>
              <a:t>ANY QUERIES??? </a:t>
            </a:r>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953</Words>
  <Application>Microsoft Office PowerPoint</Application>
  <PresentationFormat>On-screen Show (16:9)</PresentationFormat>
  <Paragraphs>134</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Noto Sans Symbols</vt:lpstr>
      <vt:lpstr>Gill Sans</vt:lpstr>
      <vt:lpstr>Bookman Old Style</vt:lpstr>
      <vt:lpstr>Times New Roman</vt:lpstr>
      <vt:lpstr>Calibri</vt:lpstr>
      <vt:lpstr>Origin</vt:lpstr>
      <vt:lpstr>EGB1201 – JAVA PROGRAMMING END SEM PROJECT REVIEW</vt:lpstr>
      <vt:lpstr>Title of the Project</vt:lpstr>
      <vt:lpstr>Abstract </vt:lpstr>
      <vt:lpstr>Abstract with CO/PO Mapping</vt:lpstr>
      <vt:lpstr>Introduction</vt:lpstr>
      <vt:lpstr>   </vt:lpstr>
      <vt:lpstr>Java Programming  - Concepts Used</vt:lpstr>
      <vt:lpstr>Proposed Architecture</vt:lpstr>
      <vt:lpstr>Proposed Architecture - Description</vt:lpstr>
      <vt:lpstr>List of Modules</vt:lpstr>
      <vt:lpstr>Description of Modules</vt:lpstr>
      <vt:lpstr>                                 </vt:lpstr>
      <vt:lpstr>CONCLUSION</vt:lpstr>
      <vt:lpst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BCE</dc:creator>
  <cp:lastModifiedBy>Dhanus Varma</cp:lastModifiedBy>
  <cp:revision>1</cp:revision>
  <dcterms:modified xsi:type="dcterms:W3CDTF">2025-12-08T15:57:58Z</dcterms:modified>
</cp:coreProperties>
</file>